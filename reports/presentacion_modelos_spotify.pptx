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Inter Bold" charset="1" panose="02000503000000020004"/>
      <p:regular r:id="rId22"/>
    </p:embeddedFont>
    <p:embeddedFont>
      <p:font typeface="Inter Semi-Bold" charset="1" panose="02000503000000020004"/>
      <p:regular r:id="rId23"/>
    </p:embeddedFont>
    <p:embeddedFont>
      <p:font typeface="Open Sans" charset="1" panose="020B0606030504020204"/>
      <p:regular r:id="rId24"/>
    </p:embeddedFont>
    <p:embeddedFont>
      <p:font typeface="Inter Medium" charset="1" panose="02000503000000020004"/>
      <p:regular r:id="rId25"/>
    </p:embeddedFont>
    <p:embeddedFont>
      <p:font typeface="Inter" charset="1" panose="02000503000000020004"/>
      <p:regular r:id="rId26"/>
    </p:embeddedFont>
    <p:embeddedFont>
      <p:font typeface="Open Sans Bold" charset="1" panose="020B0806030504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6467" y="609600"/>
            <a:ext cx="15739866" cy="8538877"/>
          </a:xfrm>
          <a:custGeom>
            <a:avLst/>
            <a:gdLst/>
            <a:ahLst/>
            <a:cxnLst/>
            <a:rect r="r" b="b" t="t" l="l"/>
            <a:pathLst>
              <a:path h="8538877" w="15739866">
                <a:moveTo>
                  <a:pt x="0" y="0"/>
                </a:moveTo>
                <a:lnTo>
                  <a:pt x="15739866" y="0"/>
                </a:lnTo>
                <a:lnTo>
                  <a:pt x="15739866" y="8538877"/>
                </a:lnTo>
                <a:lnTo>
                  <a:pt x="0" y="8538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1133122" y="-2921781"/>
            <a:ext cx="8061356" cy="8474487"/>
          </a:xfrm>
          <a:custGeom>
            <a:avLst/>
            <a:gdLst/>
            <a:ahLst/>
            <a:cxnLst/>
            <a:rect r="r" b="b" t="t" l="l"/>
            <a:pathLst>
              <a:path h="8474487" w="8061356">
                <a:moveTo>
                  <a:pt x="0" y="8474487"/>
                </a:moveTo>
                <a:lnTo>
                  <a:pt x="8061356" y="8474487"/>
                </a:lnTo>
                <a:lnTo>
                  <a:pt x="8061356" y="0"/>
                </a:lnTo>
                <a:lnTo>
                  <a:pt x="0" y="0"/>
                </a:lnTo>
                <a:lnTo>
                  <a:pt x="0" y="847448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" y="633140"/>
            <a:ext cx="395411" cy="254546"/>
          </a:xfrm>
          <a:custGeom>
            <a:avLst/>
            <a:gdLst/>
            <a:ahLst/>
            <a:cxnLst/>
            <a:rect r="r" b="b" t="t" l="l"/>
            <a:pathLst>
              <a:path h="254546" w="395411">
                <a:moveTo>
                  <a:pt x="0" y="0"/>
                </a:moveTo>
                <a:lnTo>
                  <a:pt x="395411" y="0"/>
                </a:lnTo>
                <a:lnTo>
                  <a:pt x="395411" y="254545"/>
                </a:lnTo>
                <a:lnTo>
                  <a:pt x="0" y="254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07305" y="4728853"/>
            <a:ext cx="15706380" cy="258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</a:pPr>
            <a:r>
              <a:rPr lang="en-US" b="true" sz="9999" spc="-319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Modelos supervisados y no supervisados en Spotify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5821" y="571500"/>
            <a:ext cx="207457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02020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Studio Shodwe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5011" y="8239788"/>
            <a:ext cx="3202038" cy="126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8879" indent="-264440" lvl="1">
              <a:lnSpc>
                <a:spcPts val="3429"/>
              </a:lnSpc>
              <a:buFont typeface="Arial"/>
              <a:buChar char="•"/>
            </a:pPr>
            <a:r>
              <a:rPr lang="en-US" sz="2449">
                <a:solidFill>
                  <a:srgbClr val="020202"/>
                </a:solidFill>
                <a:latin typeface="Open Sans"/>
                <a:ea typeface="Open Sans"/>
                <a:cs typeface="Open Sans"/>
                <a:sym typeface="Open Sans"/>
              </a:rPr>
              <a:t>Diego Améstica</a:t>
            </a:r>
          </a:p>
          <a:p>
            <a:pPr algn="l" marL="528879" indent="-264440" lvl="1">
              <a:lnSpc>
                <a:spcPts val="3429"/>
              </a:lnSpc>
              <a:buFont typeface="Arial"/>
              <a:buChar char="•"/>
            </a:pPr>
            <a:r>
              <a:rPr lang="en-US" sz="2449">
                <a:solidFill>
                  <a:srgbClr val="020202"/>
                </a:solidFill>
                <a:latin typeface="Open Sans"/>
                <a:ea typeface="Open Sans"/>
                <a:cs typeface="Open Sans"/>
                <a:sym typeface="Open Sans"/>
              </a:rPr>
              <a:t>Gino Andrades</a:t>
            </a:r>
          </a:p>
          <a:p>
            <a:pPr algn="l" marL="528879" indent="-264440" lvl="1">
              <a:lnSpc>
                <a:spcPts val="3429"/>
              </a:lnSpc>
              <a:buFont typeface="Arial"/>
              <a:buChar char="•"/>
            </a:pPr>
            <a:r>
              <a:rPr lang="en-US" sz="2449">
                <a:solidFill>
                  <a:srgbClr val="020202"/>
                </a:solidFill>
                <a:latin typeface="Open Sans"/>
                <a:ea typeface="Open Sans"/>
                <a:cs typeface="Open Sans"/>
                <a:sym typeface="Open Sans"/>
              </a:rPr>
              <a:t>Agustín Cáceres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3400" y="2443797"/>
            <a:ext cx="9906000" cy="7181850"/>
            <a:chOff x="0" y="0"/>
            <a:chExt cx="2608988" cy="18915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8988" cy="1891516"/>
            </a:xfrm>
            <a:custGeom>
              <a:avLst/>
              <a:gdLst/>
              <a:ahLst/>
              <a:cxnLst/>
              <a:rect r="r" b="b" t="t" l="l"/>
              <a:pathLst>
                <a:path h="1891516" w="2608988">
                  <a:moveTo>
                    <a:pt x="25009" y="0"/>
                  </a:moveTo>
                  <a:lnTo>
                    <a:pt x="2583979" y="0"/>
                  </a:lnTo>
                  <a:cubicBezTo>
                    <a:pt x="2590611" y="0"/>
                    <a:pt x="2596972" y="2635"/>
                    <a:pt x="2601663" y="7325"/>
                  </a:cubicBezTo>
                  <a:cubicBezTo>
                    <a:pt x="2606353" y="12015"/>
                    <a:pt x="2608988" y="18376"/>
                    <a:pt x="2608988" y="25009"/>
                  </a:cubicBezTo>
                  <a:lnTo>
                    <a:pt x="2608988" y="1866507"/>
                  </a:lnTo>
                  <a:cubicBezTo>
                    <a:pt x="2608988" y="1880319"/>
                    <a:pt x="2597791" y="1891516"/>
                    <a:pt x="2583979" y="1891516"/>
                  </a:cubicBezTo>
                  <a:lnTo>
                    <a:pt x="25009" y="1891516"/>
                  </a:lnTo>
                  <a:cubicBezTo>
                    <a:pt x="11197" y="1891516"/>
                    <a:pt x="0" y="1880319"/>
                    <a:pt x="0" y="1866507"/>
                  </a:cubicBezTo>
                  <a:lnTo>
                    <a:pt x="0" y="25009"/>
                  </a:lnTo>
                  <a:cubicBezTo>
                    <a:pt x="0" y="11197"/>
                    <a:pt x="11197" y="0"/>
                    <a:pt x="25009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608988" cy="1939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93683" y="2119380"/>
            <a:ext cx="6065617" cy="2259765"/>
            <a:chOff x="0" y="0"/>
            <a:chExt cx="1929863" cy="7189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9863" cy="718977"/>
            </a:xfrm>
            <a:custGeom>
              <a:avLst/>
              <a:gdLst/>
              <a:ahLst/>
              <a:cxnLst/>
              <a:rect r="r" b="b" t="t" l="l"/>
              <a:pathLst>
                <a:path h="718977" w="1929863">
                  <a:moveTo>
                    <a:pt x="40844" y="0"/>
                  </a:moveTo>
                  <a:lnTo>
                    <a:pt x="1889020" y="0"/>
                  </a:lnTo>
                  <a:cubicBezTo>
                    <a:pt x="1899852" y="0"/>
                    <a:pt x="1910241" y="4303"/>
                    <a:pt x="1917901" y="11963"/>
                  </a:cubicBezTo>
                  <a:cubicBezTo>
                    <a:pt x="1925560" y="19622"/>
                    <a:pt x="1929863" y="30011"/>
                    <a:pt x="1929863" y="40844"/>
                  </a:cubicBezTo>
                  <a:lnTo>
                    <a:pt x="1929863" y="678133"/>
                  </a:lnTo>
                  <a:cubicBezTo>
                    <a:pt x="1929863" y="688966"/>
                    <a:pt x="1925560" y="699354"/>
                    <a:pt x="1917901" y="707014"/>
                  </a:cubicBezTo>
                  <a:cubicBezTo>
                    <a:pt x="1910241" y="714674"/>
                    <a:pt x="1899852" y="718977"/>
                    <a:pt x="1889020" y="718977"/>
                  </a:cubicBezTo>
                  <a:lnTo>
                    <a:pt x="40844" y="718977"/>
                  </a:lnTo>
                  <a:cubicBezTo>
                    <a:pt x="30011" y="718977"/>
                    <a:pt x="19622" y="714674"/>
                    <a:pt x="11963" y="707014"/>
                  </a:cubicBezTo>
                  <a:cubicBezTo>
                    <a:pt x="4303" y="699354"/>
                    <a:pt x="0" y="688966"/>
                    <a:pt x="0" y="678133"/>
                  </a:cubicBezTo>
                  <a:lnTo>
                    <a:pt x="0" y="40844"/>
                  </a:lnTo>
                  <a:cubicBezTo>
                    <a:pt x="0" y="30011"/>
                    <a:pt x="4303" y="19622"/>
                    <a:pt x="11963" y="11963"/>
                  </a:cubicBezTo>
                  <a:cubicBezTo>
                    <a:pt x="19622" y="4303"/>
                    <a:pt x="30011" y="0"/>
                    <a:pt x="40844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929863" cy="766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15776" y="7365882"/>
            <a:ext cx="6482251" cy="2259765"/>
            <a:chOff x="0" y="0"/>
            <a:chExt cx="2062422" cy="7189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62422" cy="718977"/>
            </a:xfrm>
            <a:custGeom>
              <a:avLst/>
              <a:gdLst/>
              <a:ahLst/>
              <a:cxnLst/>
              <a:rect r="r" b="b" t="t" l="l"/>
              <a:pathLst>
                <a:path h="718977" w="2062422">
                  <a:moveTo>
                    <a:pt x="38218" y="0"/>
                  </a:moveTo>
                  <a:lnTo>
                    <a:pt x="2024203" y="0"/>
                  </a:lnTo>
                  <a:cubicBezTo>
                    <a:pt x="2034340" y="0"/>
                    <a:pt x="2044061" y="4027"/>
                    <a:pt x="2051228" y="11194"/>
                  </a:cubicBezTo>
                  <a:cubicBezTo>
                    <a:pt x="2058395" y="18361"/>
                    <a:pt x="2062422" y="28082"/>
                    <a:pt x="2062422" y="38218"/>
                  </a:cubicBezTo>
                  <a:lnTo>
                    <a:pt x="2062422" y="680758"/>
                  </a:lnTo>
                  <a:cubicBezTo>
                    <a:pt x="2062422" y="690895"/>
                    <a:pt x="2058395" y="700616"/>
                    <a:pt x="2051228" y="707783"/>
                  </a:cubicBezTo>
                  <a:cubicBezTo>
                    <a:pt x="2044061" y="714950"/>
                    <a:pt x="2034340" y="718977"/>
                    <a:pt x="2024203" y="718977"/>
                  </a:cubicBezTo>
                  <a:lnTo>
                    <a:pt x="38218" y="718977"/>
                  </a:lnTo>
                  <a:cubicBezTo>
                    <a:pt x="28082" y="718977"/>
                    <a:pt x="18361" y="714950"/>
                    <a:pt x="11194" y="707783"/>
                  </a:cubicBezTo>
                  <a:cubicBezTo>
                    <a:pt x="4027" y="700616"/>
                    <a:pt x="0" y="690895"/>
                    <a:pt x="0" y="680758"/>
                  </a:cubicBezTo>
                  <a:lnTo>
                    <a:pt x="0" y="38218"/>
                  </a:lnTo>
                  <a:cubicBezTo>
                    <a:pt x="0" y="28082"/>
                    <a:pt x="4027" y="18361"/>
                    <a:pt x="11194" y="11194"/>
                  </a:cubicBezTo>
                  <a:cubicBezTo>
                    <a:pt x="18361" y="4027"/>
                    <a:pt x="28082" y="0"/>
                    <a:pt x="38218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062422" cy="766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193683" y="4742631"/>
            <a:ext cx="6065617" cy="2259765"/>
            <a:chOff x="0" y="0"/>
            <a:chExt cx="1929863" cy="7189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29863" cy="718977"/>
            </a:xfrm>
            <a:custGeom>
              <a:avLst/>
              <a:gdLst/>
              <a:ahLst/>
              <a:cxnLst/>
              <a:rect r="r" b="b" t="t" l="l"/>
              <a:pathLst>
                <a:path h="718977" w="1929863">
                  <a:moveTo>
                    <a:pt x="40844" y="0"/>
                  </a:moveTo>
                  <a:lnTo>
                    <a:pt x="1889020" y="0"/>
                  </a:lnTo>
                  <a:cubicBezTo>
                    <a:pt x="1899852" y="0"/>
                    <a:pt x="1910241" y="4303"/>
                    <a:pt x="1917901" y="11963"/>
                  </a:cubicBezTo>
                  <a:cubicBezTo>
                    <a:pt x="1925560" y="19622"/>
                    <a:pt x="1929863" y="30011"/>
                    <a:pt x="1929863" y="40844"/>
                  </a:cubicBezTo>
                  <a:lnTo>
                    <a:pt x="1929863" y="678133"/>
                  </a:lnTo>
                  <a:cubicBezTo>
                    <a:pt x="1929863" y="688966"/>
                    <a:pt x="1925560" y="699354"/>
                    <a:pt x="1917901" y="707014"/>
                  </a:cubicBezTo>
                  <a:cubicBezTo>
                    <a:pt x="1910241" y="714674"/>
                    <a:pt x="1899852" y="718977"/>
                    <a:pt x="1889020" y="718977"/>
                  </a:cubicBezTo>
                  <a:lnTo>
                    <a:pt x="40844" y="718977"/>
                  </a:lnTo>
                  <a:cubicBezTo>
                    <a:pt x="30011" y="718977"/>
                    <a:pt x="19622" y="714674"/>
                    <a:pt x="11963" y="707014"/>
                  </a:cubicBezTo>
                  <a:cubicBezTo>
                    <a:pt x="4303" y="699354"/>
                    <a:pt x="0" y="688966"/>
                    <a:pt x="0" y="678133"/>
                  </a:cubicBezTo>
                  <a:lnTo>
                    <a:pt x="0" y="40844"/>
                  </a:lnTo>
                  <a:cubicBezTo>
                    <a:pt x="0" y="30011"/>
                    <a:pt x="4303" y="19622"/>
                    <a:pt x="11963" y="11963"/>
                  </a:cubicBezTo>
                  <a:cubicBezTo>
                    <a:pt x="19622" y="4303"/>
                    <a:pt x="30011" y="0"/>
                    <a:pt x="40844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929863" cy="766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383609" y="5433061"/>
            <a:ext cx="5685766" cy="878905"/>
            <a:chOff x="0" y="0"/>
            <a:chExt cx="17814800" cy="27538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814799" cy="2753810"/>
            </a:xfrm>
            <a:custGeom>
              <a:avLst/>
              <a:gdLst/>
              <a:ahLst/>
              <a:cxnLst/>
              <a:rect r="r" b="b" t="t" l="l"/>
              <a:pathLst>
                <a:path h="2753810" w="17814799">
                  <a:moveTo>
                    <a:pt x="21786" y="0"/>
                  </a:moveTo>
                  <a:lnTo>
                    <a:pt x="17793013" y="0"/>
                  </a:lnTo>
                  <a:cubicBezTo>
                    <a:pt x="17805045" y="0"/>
                    <a:pt x="17814799" y="9754"/>
                    <a:pt x="17814799" y="21786"/>
                  </a:cubicBezTo>
                  <a:lnTo>
                    <a:pt x="17814799" y="2732024"/>
                  </a:lnTo>
                  <a:cubicBezTo>
                    <a:pt x="17814799" y="2744056"/>
                    <a:pt x="17805045" y="2753810"/>
                    <a:pt x="17793013" y="2753810"/>
                  </a:cubicBezTo>
                  <a:lnTo>
                    <a:pt x="21786" y="2753810"/>
                  </a:lnTo>
                  <a:cubicBezTo>
                    <a:pt x="9754" y="2753810"/>
                    <a:pt x="0" y="2744056"/>
                    <a:pt x="0" y="2732024"/>
                  </a:cubicBezTo>
                  <a:lnTo>
                    <a:pt x="0" y="21786"/>
                  </a:lnTo>
                  <a:cubicBezTo>
                    <a:pt x="0" y="9754"/>
                    <a:pt x="9754" y="0"/>
                    <a:pt x="21786" y="0"/>
                  </a:cubicBezTo>
                  <a:close/>
                </a:path>
              </a:pathLst>
            </a:custGeom>
            <a:solidFill>
              <a:srgbClr val="FFF1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7814800" cy="2801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383609" y="2809810"/>
            <a:ext cx="5685766" cy="878905"/>
            <a:chOff x="0" y="0"/>
            <a:chExt cx="17814800" cy="27538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814799" cy="2753810"/>
            </a:xfrm>
            <a:custGeom>
              <a:avLst/>
              <a:gdLst/>
              <a:ahLst/>
              <a:cxnLst/>
              <a:rect r="r" b="b" t="t" l="l"/>
              <a:pathLst>
                <a:path h="2753810" w="17814799">
                  <a:moveTo>
                    <a:pt x="21786" y="0"/>
                  </a:moveTo>
                  <a:lnTo>
                    <a:pt x="17793013" y="0"/>
                  </a:lnTo>
                  <a:cubicBezTo>
                    <a:pt x="17805045" y="0"/>
                    <a:pt x="17814799" y="9754"/>
                    <a:pt x="17814799" y="21786"/>
                  </a:cubicBezTo>
                  <a:lnTo>
                    <a:pt x="17814799" y="2732024"/>
                  </a:lnTo>
                  <a:cubicBezTo>
                    <a:pt x="17814799" y="2744056"/>
                    <a:pt x="17805045" y="2753810"/>
                    <a:pt x="17793013" y="2753810"/>
                  </a:cubicBezTo>
                  <a:lnTo>
                    <a:pt x="21786" y="2753810"/>
                  </a:lnTo>
                  <a:cubicBezTo>
                    <a:pt x="9754" y="2753810"/>
                    <a:pt x="0" y="2744056"/>
                    <a:pt x="0" y="2732024"/>
                  </a:cubicBezTo>
                  <a:lnTo>
                    <a:pt x="0" y="21786"/>
                  </a:lnTo>
                  <a:cubicBezTo>
                    <a:pt x="0" y="9754"/>
                    <a:pt x="9754" y="0"/>
                    <a:pt x="21786" y="0"/>
                  </a:cubicBezTo>
                  <a:close/>
                </a:path>
              </a:pathLst>
            </a:custGeom>
            <a:solidFill>
              <a:srgbClr val="F1F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7814800" cy="2801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193683" y="8116361"/>
            <a:ext cx="6065617" cy="765053"/>
            <a:chOff x="0" y="0"/>
            <a:chExt cx="19004959" cy="239708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004959" cy="2397087"/>
            </a:xfrm>
            <a:custGeom>
              <a:avLst/>
              <a:gdLst/>
              <a:ahLst/>
              <a:cxnLst/>
              <a:rect r="r" b="b" t="t" l="l"/>
              <a:pathLst>
                <a:path h="2397087" w="19004959">
                  <a:moveTo>
                    <a:pt x="20422" y="0"/>
                  </a:moveTo>
                  <a:lnTo>
                    <a:pt x="18984537" y="0"/>
                  </a:lnTo>
                  <a:cubicBezTo>
                    <a:pt x="18995816" y="0"/>
                    <a:pt x="19004959" y="9143"/>
                    <a:pt x="19004959" y="20422"/>
                  </a:cubicBezTo>
                  <a:lnTo>
                    <a:pt x="19004959" y="2376665"/>
                  </a:lnTo>
                  <a:cubicBezTo>
                    <a:pt x="19004959" y="2387944"/>
                    <a:pt x="18995816" y="2397087"/>
                    <a:pt x="18984537" y="2397087"/>
                  </a:cubicBezTo>
                  <a:lnTo>
                    <a:pt x="20422" y="2397087"/>
                  </a:lnTo>
                  <a:cubicBezTo>
                    <a:pt x="9143" y="2397087"/>
                    <a:pt x="0" y="2387944"/>
                    <a:pt x="0" y="2376665"/>
                  </a:cubicBezTo>
                  <a:lnTo>
                    <a:pt x="0" y="20422"/>
                  </a:lnTo>
                  <a:cubicBezTo>
                    <a:pt x="0" y="9143"/>
                    <a:pt x="9143" y="0"/>
                    <a:pt x="20422" y="0"/>
                  </a:cubicBezTo>
                  <a:close/>
                </a:path>
              </a:pathLst>
            </a:custGeom>
            <a:solidFill>
              <a:srgbClr val="FAF1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9004959" cy="24447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899840" y="5561079"/>
            <a:ext cx="3210720" cy="2937809"/>
          </a:xfrm>
          <a:custGeom>
            <a:avLst/>
            <a:gdLst/>
            <a:ahLst/>
            <a:cxnLst/>
            <a:rect r="r" b="b" t="t" l="l"/>
            <a:pathLst>
              <a:path h="2937809" w="3210720">
                <a:moveTo>
                  <a:pt x="0" y="0"/>
                </a:moveTo>
                <a:lnTo>
                  <a:pt x="3210720" y="0"/>
                </a:lnTo>
                <a:lnTo>
                  <a:pt x="3210720" y="2937809"/>
                </a:lnTo>
                <a:lnTo>
                  <a:pt x="0" y="2937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28700" y="4038220"/>
            <a:ext cx="5203088" cy="1560926"/>
          </a:xfrm>
          <a:custGeom>
            <a:avLst/>
            <a:gdLst/>
            <a:ahLst/>
            <a:cxnLst/>
            <a:rect r="r" b="b" t="t" l="l"/>
            <a:pathLst>
              <a:path h="1560926" w="5203088">
                <a:moveTo>
                  <a:pt x="0" y="0"/>
                </a:moveTo>
                <a:lnTo>
                  <a:pt x="5203088" y="0"/>
                </a:lnTo>
                <a:lnTo>
                  <a:pt x="5203088" y="1560926"/>
                </a:lnTo>
                <a:lnTo>
                  <a:pt x="0" y="15609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609600" y="609600"/>
            <a:ext cx="10406176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</a:pPr>
            <a:r>
              <a:rPr lang="en-US" b="true" sz="5500" spc="-176">
                <a:solidFill>
                  <a:srgbClr val="02020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Problema y objetivo del negocio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686175" y="3272790"/>
            <a:ext cx="360045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Datos de Spotify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04412" y="5162233"/>
            <a:ext cx="3787440" cy="2459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39"/>
              </a:lnSpc>
              <a:spcBef>
                <a:spcPct val="0"/>
              </a:spcBef>
            </a:pPr>
            <a:r>
              <a:rPr lang="en-US" b="true" sz="4742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¿Qué es lo que buscamos?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92000" y="300855"/>
            <a:ext cx="3787440" cy="163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39"/>
              </a:lnSpc>
              <a:spcBef>
                <a:spcPct val="0"/>
              </a:spcBef>
            </a:pPr>
            <a:r>
              <a:rPr lang="en-US" b="true" sz="4742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¿Como lo haremos?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25519" y="2899695"/>
            <a:ext cx="5401945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20202"/>
                </a:solidFill>
                <a:latin typeface="Inter Medium"/>
                <a:ea typeface="Inter Medium"/>
                <a:cs typeface="Inter Medium"/>
                <a:sym typeface="Inter Medium"/>
              </a:rPr>
              <a:t>Modelos de </a:t>
            </a:r>
            <a:r>
              <a:rPr lang="en-US" b="true" sz="3599">
                <a:solidFill>
                  <a:srgbClr val="020202"/>
                </a:solidFill>
                <a:latin typeface="Inter Medium"/>
                <a:ea typeface="Inter Medium"/>
                <a:cs typeface="Inter Medium"/>
                <a:sym typeface="Inter Medium"/>
              </a:rPr>
              <a:t>Clasificación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09788" y="5522946"/>
            <a:ext cx="4788059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20202"/>
                </a:solidFill>
                <a:latin typeface="Inter Medium"/>
                <a:ea typeface="Inter Medium"/>
                <a:cs typeface="Inter Medium"/>
                <a:sym typeface="Inter Medium"/>
              </a:rPr>
              <a:t>Modelos de </a:t>
            </a:r>
            <a:r>
              <a:rPr lang="en-US" b="true" sz="3600">
                <a:solidFill>
                  <a:srgbClr val="020202"/>
                </a:solidFill>
                <a:latin typeface="Inter Medium"/>
                <a:ea typeface="Inter Medium"/>
                <a:cs typeface="Inter Medium"/>
                <a:sym typeface="Inter Medium"/>
              </a:rPr>
              <a:t>Regresión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337030" y="8145396"/>
            <a:ext cx="5733574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20202"/>
                </a:solidFill>
                <a:latin typeface="Inter Medium"/>
                <a:ea typeface="Inter Medium"/>
                <a:cs typeface="Inter Medium"/>
                <a:sym typeface="Inter Medium"/>
              </a:rPr>
              <a:t>Modelos de </a:t>
            </a:r>
            <a:r>
              <a:rPr lang="en-US" b="true" sz="3600">
                <a:solidFill>
                  <a:srgbClr val="020202"/>
                </a:solidFill>
                <a:latin typeface="Inter Medium"/>
                <a:ea typeface="Inter Medium"/>
                <a:cs typeface="Inter Medium"/>
                <a:sym typeface="Inter Medium"/>
              </a:rPr>
              <a:t>Segmentación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600" y="2495550"/>
            <a:ext cx="5396865" cy="5120109"/>
            <a:chOff x="0" y="0"/>
            <a:chExt cx="1421397" cy="13485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1397" cy="1348506"/>
            </a:xfrm>
            <a:custGeom>
              <a:avLst/>
              <a:gdLst/>
              <a:ahLst/>
              <a:cxnLst/>
              <a:rect r="r" b="b" t="t" l="l"/>
              <a:pathLst>
                <a:path h="1348506" w="1421397">
                  <a:moveTo>
                    <a:pt x="45905" y="0"/>
                  </a:moveTo>
                  <a:lnTo>
                    <a:pt x="1375492" y="0"/>
                  </a:lnTo>
                  <a:cubicBezTo>
                    <a:pt x="1400844" y="0"/>
                    <a:pt x="1421397" y="20552"/>
                    <a:pt x="1421397" y="45905"/>
                  </a:cubicBezTo>
                  <a:lnTo>
                    <a:pt x="1421397" y="1302601"/>
                  </a:lnTo>
                  <a:cubicBezTo>
                    <a:pt x="1421397" y="1327954"/>
                    <a:pt x="1400844" y="1348506"/>
                    <a:pt x="1375492" y="1348506"/>
                  </a:cubicBezTo>
                  <a:lnTo>
                    <a:pt x="45905" y="1348506"/>
                  </a:lnTo>
                  <a:cubicBezTo>
                    <a:pt x="20552" y="1348506"/>
                    <a:pt x="0" y="1327954"/>
                    <a:pt x="0" y="1302601"/>
                  </a:cubicBezTo>
                  <a:lnTo>
                    <a:pt x="0" y="45905"/>
                  </a:lnTo>
                  <a:cubicBezTo>
                    <a:pt x="0" y="20552"/>
                    <a:pt x="20552" y="0"/>
                    <a:pt x="45905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21397" cy="1396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45568" y="2495550"/>
            <a:ext cx="5396865" cy="5120109"/>
            <a:chOff x="0" y="0"/>
            <a:chExt cx="1421397" cy="13485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1397" cy="1348506"/>
            </a:xfrm>
            <a:custGeom>
              <a:avLst/>
              <a:gdLst/>
              <a:ahLst/>
              <a:cxnLst/>
              <a:rect r="r" b="b" t="t" l="l"/>
              <a:pathLst>
                <a:path h="1348506" w="1421397">
                  <a:moveTo>
                    <a:pt x="45905" y="0"/>
                  </a:moveTo>
                  <a:lnTo>
                    <a:pt x="1375492" y="0"/>
                  </a:lnTo>
                  <a:cubicBezTo>
                    <a:pt x="1400844" y="0"/>
                    <a:pt x="1421397" y="20552"/>
                    <a:pt x="1421397" y="45905"/>
                  </a:cubicBezTo>
                  <a:lnTo>
                    <a:pt x="1421397" y="1302601"/>
                  </a:lnTo>
                  <a:cubicBezTo>
                    <a:pt x="1421397" y="1327954"/>
                    <a:pt x="1400844" y="1348506"/>
                    <a:pt x="1375492" y="1348506"/>
                  </a:cubicBezTo>
                  <a:lnTo>
                    <a:pt x="45905" y="1348506"/>
                  </a:lnTo>
                  <a:cubicBezTo>
                    <a:pt x="20552" y="1348506"/>
                    <a:pt x="0" y="1327954"/>
                    <a:pt x="0" y="1302601"/>
                  </a:cubicBezTo>
                  <a:lnTo>
                    <a:pt x="0" y="45905"/>
                  </a:lnTo>
                  <a:cubicBezTo>
                    <a:pt x="0" y="20552"/>
                    <a:pt x="20552" y="0"/>
                    <a:pt x="45905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21397" cy="1396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281535" y="2495550"/>
            <a:ext cx="5396865" cy="5120109"/>
            <a:chOff x="0" y="0"/>
            <a:chExt cx="1421397" cy="13485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1397" cy="1348506"/>
            </a:xfrm>
            <a:custGeom>
              <a:avLst/>
              <a:gdLst/>
              <a:ahLst/>
              <a:cxnLst/>
              <a:rect r="r" b="b" t="t" l="l"/>
              <a:pathLst>
                <a:path h="1348506" w="1421397">
                  <a:moveTo>
                    <a:pt x="45905" y="0"/>
                  </a:moveTo>
                  <a:lnTo>
                    <a:pt x="1375492" y="0"/>
                  </a:lnTo>
                  <a:cubicBezTo>
                    <a:pt x="1400844" y="0"/>
                    <a:pt x="1421397" y="20552"/>
                    <a:pt x="1421397" y="45905"/>
                  </a:cubicBezTo>
                  <a:lnTo>
                    <a:pt x="1421397" y="1302601"/>
                  </a:lnTo>
                  <a:cubicBezTo>
                    <a:pt x="1421397" y="1327954"/>
                    <a:pt x="1400844" y="1348506"/>
                    <a:pt x="1375492" y="1348506"/>
                  </a:cubicBezTo>
                  <a:lnTo>
                    <a:pt x="45905" y="1348506"/>
                  </a:lnTo>
                  <a:cubicBezTo>
                    <a:pt x="20552" y="1348506"/>
                    <a:pt x="0" y="1327954"/>
                    <a:pt x="0" y="1302601"/>
                  </a:cubicBezTo>
                  <a:lnTo>
                    <a:pt x="0" y="45905"/>
                  </a:lnTo>
                  <a:cubicBezTo>
                    <a:pt x="0" y="20552"/>
                    <a:pt x="20552" y="0"/>
                    <a:pt x="45905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21397" cy="1396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84682" y="5431530"/>
            <a:ext cx="3247612" cy="2565613"/>
          </a:xfrm>
          <a:custGeom>
            <a:avLst/>
            <a:gdLst/>
            <a:ahLst/>
            <a:cxnLst/>
            <a:rect r="r" b="b" t="t" l="l"/>
            <a:pathLst>
              <a:path h="2565613" w="3247612">
                <a:moveTo>
                  <a:pt x="0" y="0"/>
                </a:moveTo>
                <a:lnTo>
                  <a:pt x="3247612" y="0"/>
                </a:lnTo>
                <a:lnTo>
                  <a:pt x="3247612" y="2565613"/>
                </a:lnTo>
                <a:lnTo>
                  <a:pt x="0" y="2565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848600" y="5676900"/>
            <a:ext cx="2895600" cy="2808732"/>
          </a:xfrm>
          <a:custGeom>
            <a:avLst/>
            <a:gdLst/>
            <a:ahLst/>
            <a:cxnLst/>
            <a:rect r="r" b="b" t="t" l="l"/>
            <a:pathLst>
              <a:path h="2808732" w="2895600">
                <a:moveTo>
                  <a:pt x="0" y="0"/>
                </a:moveTo>
                <a:lnTo>
                  <a:pt x="2895600" y="0"/>
                </a:lnTo>
                <a:lnTo>
                  <a:pt x="2895600" y="2808732"/>
                </a:lnTo>
                <a:lnTo>
                  <a:pt x="0" y="2808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680758" y="5431530"/>
            <a:ext cx="2888607" cy="2888607"/>
          </a:xfrm>
          <a:custGeom>
            <a:avLst/>
            <a:gdLst/>
            <a:ahLst/>
            <a:cxnLst/>
            <a:rect r="r" b="b" t="t" l="l"/>
            <a:pathLst>
              <a:path h="2888607" w="2888607">
                <a:moveTo>
                  <a:pt x="0" y="0"/>
                </a:moveTo>
                <a:lnTo>
                  <a:pt x="2888606" y="0"/>
                </a:lnTo>
                <a:lnTo>
                  <a:pt x="2888606" y="2888607"/>
                </a:lnTo>
                <a:lnTo>
                  <a:pt x="0" y="28886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226016" y="609600"/>
            <a:ext cx="5835968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9"/>
              </a:lnSpc>
            </a:pPr>
            <a:r>
              <a:rPr lang="en-US" b="true" sz="6399" spc="-204">
                <a:solidFill>
                  <a:srgbClr val="02020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KPIs a cu</a:t>
            </a:r>
            <a:r>
              <a:rPr lang="en-US" b="true" sz="6399" spc="-204">
                <a:solidFill>
                  <a:srgbClr val="02020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mplir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11909" y="2734944"/>
            <a:ext cx="259224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Regresión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39804" y="8627439"/>
            <a:ext cx="940839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</a:pPr>
            <a:r>
              <a:rPr lang="en-US" sz="3999">
                <a:solidFill>
                  <a:srgbClr val="020202"/>
                </a:solidFill>
                <a:latin typeface="Inter"/>
                <a:ea typeface="Inter"/>
                <a:cs typeface="Inter"/>
                <a:sym typeface="Inter"/>
              </a:rPr>
              <a:t>KPI orienta</a:t>
            </a:r>
            <a:r>
              <a:rPr lang="en-US" sz="3999">
                <a:solidFill>
                  <a:srgbClr val="020202"/>
                </a:solidFill>
                <a:latin typeface="Inter"/>
                <a:ea typeface="Inter"/>
                <a:cs typeface="Inter"/>
                <a:sym typeface="Inter"/>
              </a:rPr>
              <a:t>do a cada una los algoritmos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17835" y="2734944"/>
            <a:ext cx="325232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Clasificación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91034" y="2734944"/>
            <a:ext cx="357786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Segmentación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28861" y="3899536"/>
            <a:ext cx="3630278" cy="1243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20202"/>
                </a:solidFill>
                <a:latin typeface="Inter Medium"/>
                <a:ea typeface="Inter Medium"/>
                <a:cs typeface="Inter Medium"/>
                <a:sym typeface="Inter Medium"/>
              </a:rPr>
              <a:t>Medir proporción de canciones realmente altas que logra detectar.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4682" y="3833495"/>
            <a:ext cx="3446701" cy="1243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20202"/>
                </a:solidFill>
                <a:latin typeface="Inter Medium"/>
                <a:ea typeface="Inter Medium"/>
                <a:cs typeface="Inter Medium"/>
                <a:sym typeface="Inter Medium"/>
              </a:rPr>
              <a:t>Medir el error promedio en puntos de popularidad.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78826" y="3899536"/>
            <a:ext cx="3602282" cy="1243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20202"/>
                </a:solidFill>
                <a:latin typeface="Inter Medium"/>
                <a:ea typeface="Inter Medium"/>
                <a:cs typeface="Inter Medium"/>
                <a:sym typeface="Inter Medium"/>
              </a:rPr>
              <a:t>Medir la separación y cohesión de los grupos de canciones.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1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81535" y="5951419"/>
            <a:ext cx="5396865" cy="3630454"/>
            <a:chOff x="0" y="0"/>
            <a:chExt cx="1421397" cy="9561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1397" cy="956169"/>
            </a:xfrm>
            <a:custGeom>
              <a:avLst/>
              <a:gdLst/>
              <a:ahLst/>
              <a:cxnLst/>
              <a:rect r="r" b="b" t="t" l="l"/>
              <a:pathLst>
                <a:path h="956169" w="1421397">
                  <a:moveTo>
                    <a:pt x="45905" y="0"/>
                  </a:moveTo>
                  <a:lnTo>
                    <a:pt x="1375492" y="0"/>
                  </a:lnTo>
                  <a:cubicBezTo>
                    <a:pt x="1400844" y="0"/>
                    <a:pt x="1421397" y="20552"/>
                    <a:pt x="1421397" y="45905"/>
                  </a:cubicBezTo>
                  <a:lnTo>
                    <a:pt x="1421397" y="910264"/>
                  </a:lnTo>
                  <a:cubicBezTo>
                    <a:pt x="1421397" y="935617"/>
                    <a:pt x="1400844" y="956169"/>
                    <a:pt x="1375492" y="956169"/>
                  </a:cubicBezTo>
                  <a:lnTo>
                    <a:pt x="45905" y="956169"/>
                  </a:lnTo>
                  <a:cubicBezTo>
                    <a:pt x="20552" y="956169"/>
                    <a:pt x="0" y="935617"/>
                    <a:pt x="0" y="910264"/>
                  </a:cubicBezTo>
                  <a:lnTo>
                    <a:pt x="0" y="45905"/>
                  </a:lnTo>
                  <a:cubicBezTo>
                    <a:pt x="0" y="20552"/>
                    <a:pt x="20552" y="0"/>
                    <a:pt x="45905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21397" cy="1003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9584" y="5951419"/>
            <a:ext cx="5396865" cy="3630454"/>
            <a:chOff x="0" y="0"/>
            <a:chExt cx="1421397" cy="9561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1397" cy="956169"/>
            </a:xfrm>
            <a:custGeom>
              <a:avLst/>
              <a:gdLst/>
              <a:ahLst/>
              <a:cxnLst/>
              <a:rect r="r" b="b" t="t" l="l"/>
              <a:pathLst>
                <a:path h="956169" w="1421397">
                  <a:moveTo>
                    <a:pt x="45905" y="0"/>
                  </a:moveTo>
                  <a:lnTo>
                    <a:pt x="1375492" y="0"/>
                  </a:lnTo>
                  <a:cubicBezTo>
                    <a:pt x="1400844" y="0"/>
                    <a:pt x="1421397" y="20552"/>
                    <a:pt x="1421397" y="45905"/>
                  </a:cubicBezTo>
                  <a:lnTo>
                    <a:pt x="1421397" y="910264"/>
                  </a:lnTo>
                  <a:cubicBezTo>
                    <a:pt x="1421397" y="935617"/>
                    <a:pt x="1400844" y="956169"/>
                    <a:pt x="1375492" y="956169"/>
                  </a:cubicBezTo>
                  <a:lnTo>
                    <a:pt x="45905" y="956169"/>
                  </a:lnTo>
                  <a:cubicBezTo>
                    <a:pt x="20552" y="956169"/>
                    <a:pt x="0" y="935617"/>
                    <a:pt x="0" y="910264"/>
                  </a:cubicBezTo>
                  <a:lnTo>
                    <a:pt x="0" y="45905"/>
                  </a:lnTo>
                  <a:cubicBezTo>
                    <a:pt x="0" y="20552"/>
                    <a:pt x="20552" y="0"/>
                    <a:pt x="45905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21397" cy="1003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  <a:r>
                <a:rPr lang="en-US" sz="2400" b="true">
                  <a:solidFill>
                    <a:srgbClr val="FBFBF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89.741</a:t>
              </a:r>
            </a:p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15551" y="5951419"/>
            <a:ext cx="5396865" cy="3630454"/>
            <a:chOff x="0" y="0"/>
            <a:chExt cx="1421397" cy="9561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1397" cy="956169"/>
            </a:xfrm>
            <a:custGeom>
              <a:avLst/>
              <a:gdLst/>
              <a:ahLst/>
              <a:cxnLst/>
              <a:rect r="r" b="b" t="t" l="l"/>
              <a:pathLst>
                <a:path h="956169" w="1421397">
                  <a:moveTo>
                    <a:pt x="45905" y="0"/>
                  </a:moveTo>
                  <a:lnTo>
                    <a:pt x="1375492" y="0"/>
                  </a:lnTo>
                  <a:cubicBezTo>
                    <a:pt x="1400844" y="0"/>
                    <a:pt x="1421397" y="20552"/>
                    <a:pt x="1421397" y="45905"/>
                  </a:cubicBezTo>
                  <a:lnTo>
                    <a:pt x="1421397" y="910264"/>
                  </a:lnTo>
                  <a:cubicBezTo>
                    <a:pt x="1421397" y="935617"/>
                    <a:pt x="1400844" y="956169"/>
                    <a:pt x="1375492" y="956169"/>
                  </a:cubicBezTo>
                  <a:lnTo>
                    <a:pt x="45905" y="956169"/>
                  </a:lnTo>
                  <a:cubicBezTo>
                    <a:pt x="20552" y="956169"/>
                    <a:pt x="0" y="935617"/>
                    <a:pt x="0" y="910264"/>
                  </a:cubicBezTo>
                  <a:lnTo>
                    <a:pt x="0" y="45905"/>
                  </a:lnTo>
                  <a:cubicBezTo>
                    <a:pt x="0" y="20552"/>
                    <a:pt x="20552" y="0"/>
                    <a:pt x="45905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21397" cy="1003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347977" y="396915"/>
            <a:ext cx="7695917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9"/>
              </a:lnSpc>
            </a:pPr>
            <a:r>
              <a:rPr lang="en-US" b="true" sz="6399" spc="-204">
                <a:solidFill>
                  <a:srgbClr val="02020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Ca</a:t>
            </a:r>
            <a:r>
              <a:rPr lang="en-US" b="true" sz="6399" spc="-204">
                <a:solidFill>
                  <a:srgbClr val="02020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lidad de los datos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9061" y="6208488"/>
            <a:ext cx="293628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60"/>
              </a:lnSpc>
              <a:spcBef>
                <a:spcPct val="0"/>
              </a:spcBef>
            </a:pPr>
            <a:r>
              <a:rPr lang="en-US" b="true" sz="34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Canciones ú</a:t>
            </a:r>
            <a:r>
              <a:rPr lang="en-US" b="true" sz="3400" strike="noStrike" u="none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ni</a:t>
            </a:r>
            <a:r>
              <a:rPr lang="en-US" b="true" sz="3400" strike="noStrike" u="none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3400" strike="noStrike" u="none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20938" y="6877143"/>
            <a:ext cx="3518059" cy="168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00"/>
              </a:lnSpc>
              <a:spcBef>
                <a:spcPct val="0"/>
              </a:spcBef>
            </a:pPr>
            <a:r>
              <a:rPr lang="en-US" b="true" sz="4857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Presencia de Outliers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7977" y="7875230"/>
            <a:ext cx="2777249" cy="194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89.741</a:t>
            </a:r>
          </a:p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543324" y="6190813"/>
            <a:ext cx="3305223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Repeticiones ret</a:t>
            </a:r>
            <a:r>
              <a:rPr lang="en-US" b="true" sz="3999" strike="noStrike" u="none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irad</a:t>
            </a:r>
            <a:r>
              <a:rPr lang="en-US" b="true" sz="3999" strike="noStrike" u="none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48124" y="7946350"/>
            <a:ext cx="277724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24.259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062468" y="1844715"/>
            <a:ext cx="5396865" cy="3630454"/>
            <a:chOff x="0" y="0"/>
            <a:chExt cx="1421397" cy="9561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21397" cy="956169"/>
            </a:xfrm>
            <a:custGeom>
              <a:avLst/>
              <a:gdLst/>
              <a:ahLst/>
              <a:cxnLst/>
              <a:rect r="r" b="b" t="t" l="l"/>
              <a:pathLst>
                <a:path h="956169" w="1421397">
                  <a:moveTo>
                    <a:pt x="45905" y="0"/>
                  </a:moveTo>
                  <a:lnTo>
                    <a:pt x="1375492" y="0"/>
                  </a:lnTo>
                  <a:cubicBezTo>
                    <a:pt x="1400844" y="0"/>
                    <a:pt x="1421397" y="20552"/>
                    <a:pt x="1421397" y="45905"/>
                  </a:cubicBezTo>
                  <a:lnTo>
                    <a:pt x="1421397" y="910264"/>
                  </a:lnTo>
                  <a:cubicBezTo>
                    <a:pt x="1421397" y="935617"/>
                    <a:pt x="1400844" y="956169"/>
                    <a:pt x="1375492" y="956169"/>
                  </a:cubicBezTo>
                  <a:lnTo>
                    <a:pt x="45905" y="956169"/>
                  </a:lnTo>
                  <a:cubicBezTo>
                    <a:pt x="20552" y="956169"/>
                    <a:pt x="0" y="935617"/>
                    <a:pt x="0" y="910264"/>
                  </a:cubicBezTo>
                  <a:lnTo>
                    <a:pt x="0" y="45905"/>
                  </a:lnTo>
                  <a:cubicBezTo>
                    <a:pt x="0" y="20552"/>
                    <a:pt x="20552" y="0"/>
                    <a:pt x="45905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421397" cy="1003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464778" y="2321996"/>
            <a:ext cx="259224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Columnas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242081" y="3555167"/>
            <a:ext cx="1037640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21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63075" y="1844715"/>
            <a:ext cx="5396865" cy="3630454"/>
            <a:chOff x="0" y="0"/>
            <a:chExt cx="1421397" cy="95616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21397" cy="956169"/>
            </a:xfrm>
            <a:custGeom>
              <a:avLst/>
              <a:gdLst/>
              <a:ahLst/>
              <a:cxnLst/>
              <a:rect r="r" b="b" t="t" l="l"/>
              <a:pathLst>
                <a:path h="956169" w="1421397">
                  <a:moveTo>
                    <a:pt x="45905" y="0"/>
                  </a:moveTo>
                  <a:lnTo>
                    <a:pt x="1375492" y="0"/>
                  </a:lnTo>
                  <a:cubicBezTo>
                    <a:pt x="1400844" y="0"/>
                    <a:pt x="1421397" y="20552"/>
                    <a:pt x="1421397" y="45905"/>
                  </a:cubicBezTo>
                  <a:lnTo>
                    <a:pt x="1421397" y="910264"/>
                  </a:lnTo>
                  <a:cubicBezTo>
                    <a:pt x="1421397" y="935617"/>
                    <a:pt x="1400844" y="956169"/>
                    <a:pt x="1375492" y="956169"/>
                  </a:cubicBezTo>
                  <a:lnTo>
                    <a:pt x="45905" y="956169"/>
                  </a:lnTo>
                  <a:cubicBezTo>
                    <a:pt x="20552" y="956169"/>
                    <a:pt x="0" y="935617"/>
                    <a:pt x="0" y="910264"/>
                  </a:cubicBezTo>
                  <a:lnTo>
                    <a:pt x="0" y="45905"/>
                  </a:lnTo>
                  <a:cubicBezTo>
                    <a:pt x="0" y="20552"/>
                    <a:pt x="20552" y="0"/>
                    <a:pt x="45905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421397" cy="1003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765384" y="2084109"/>
            <a:ext cx="2592247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Datos originales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672883" y="3839647"/>
            <a:ext cx="277724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114.000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074305" y="7875230"/>
            <a:ext cx="2547344" cy="194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144</a:t>
            </a:r>
          </a:p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3200400" y="6208488"/>
            <a:ext cx="293628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60"/>
              </a:lnSpc>
              <a:spcBef>
                <a:spcPct val="0"/>
              </a:spcBef>
            </a:pPr>
            <a:r>
              <a:rPr lang="en-US" b="true" sz="34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Columnas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45314" y="3172192"/>
            <a:ext cx="7068977" cy="5178257"/>
          </a:xfrm>
          <a:custGeom>
            <a:avLst/>
            <a:gdLst/>
            <a:ahLst/>
            <a:cxnLst/>
            <a:rect r="r" b="b" t="t" l="l"/>
            <a:pathLst>
              <a:path h="5178257" w="7068977">
                <a:moveTo>
                  <a:pt x="0" y="0"/>
                </a:moveTo>
                <a:lnTo>
                  <a:pt x="7068977" y="0"/>
                </a:lnTo>
                <a:lnTo>
                  <a:pt x="7068977" y="5178258"/>
                </a:lnTo>
                <a:lnTo>
                  <a:pt x="0" y="517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63351" y="8633289"/>
            <a:ext cx="7832903" cy="1250023"/>
            <a:chOff x="0" y="0"/>
            <a:chExt cx="1922650" cy="3068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22650" cy="306838"/>
            </a:xfrm>
            <a:custGeom>
              <a:avLst/>
              <a:gdLst/>
              <a:ahLst/>
              <a:cxnLst/>
              <a:rect r="r" b="b" t="t" l="l"/>
              <a:pathLst>
                <a:path h="306838" w="1922650">
                  <a:moveTo>
                    <a:pt x="1922650" y="0"/>
                  </a:moveTo>
                  <a:lnTo>
                    <a:pt x="1922650" y="306838"/>
                  </a:lnTo>
                  <a:lnTo>
                    <a:pt x="0" y="3068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E1E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922650" cy="335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99"/>
                </a:lnSpc>
              </a:pPr>
              <a:r>
                <a:rPr lang="en-US" b="true" sz="2900">
                  <a:solidFill>
                    <a:srgbClr val="02020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El punto optimo rítmico no garantiza el éxito por si solo</a:t>
              </a:r>
              <a:r>
                <a:rPr lang="en-US" b="true" sz="2900">
                  <a:solidFill>
                    <a:srgbClr val="02020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3897" y="8633289"/>
            <a:ext cx="8137703" cy="1250023"/>
            <a:chOff x="0" y="0"/>
            <a:chExt cx="1997465" cy="306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7465" cy="306838"/>
            </a:xfrm>
            <a:custGeom>
              <a:avLst/>
              <a:gdLst/>
              <a:ahLst/>
              <a:cxnLst/>
              <a:rect r="r" b="b" t="t" l="l"/>
              <a:pathLst>
                <a:path h="306838" w="1997465">
                  <a:moveTo>
                    <a:pt x="1997465" y="0"/>
                  </a:moveTo>
                  <a:lnTo>
                    <a:pt x="1997465" y="306838"/>
                  </a:lnTo>
                  <a:lnTo>
                    <a:pt x="0" y="3068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E1E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97465" cy="335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99"/>
                </a:lnSpc>
              </a:pPr>
              <a:r>
                <a:rPr lang="en-US" b="true" sz="2900">
                  <a:solidFill>
                    <a:srgbClr val="02020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La popularidad es un resultado multifactorial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54203" y="3172192"/>
            <a:ext cx="9557834" cy="5178257"/>
          </a:xfrm>
          <a:custGeom>
            <a:avLst/>
            <a:gdLst/>
            <a:ahLst/>
            <a:cxnLst/>
            <a:rect r="r" b="b" t="t" l="l"/>
            <a:pathLst>
              <a:path h="5178257" w="9557834">
                <a:moveTo>
                  <a:pt x="0" y="0"/>
                </a:moveTo>
                <a:lnTo>
                  <a:pt x="9557834" y="0"/>
                </a:lnTo>
                <a:lnTo>
                  <a:pt x="9557834" y="5178258"/>
                </a:lnTo>
                <a:lnTo>
                  <a:pt x="0" y="517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64005" y="345460"/>
            <a:ext cx="7798691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9"/>
              </a:lnSpc>
            </a:pPr>
            <a:r>
              <a:rPr lang="en-US" b="true" sz="6399" spc="-204">
                <a:solidFill>
                  <a:srgbClr val="02020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Patrones  relevantes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00800" y="1878985"/>
            <a:ext cx="6467010" cy="65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5"/>
              </a:lnSpc>
            </a:pPr>
            <a:r>
              <a:rPr lang="en-US" sz="382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¿Qué se representa aquí?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1975" y="1723110"/>
            <a:ext cx="17468850" cy="7535190"/>
            <a:chOff x="0" y="0"/>
            <a:chExt cx="4385106" cy="18915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5106" cy="1891516"/>
            </a:xfrm>
            <a:custGeom>
              <a:avLst/>
              <a:gdLst/>
              <a:ahLst/>
              <a:cxnLst/>
              <a:rect r="r" b="b" t="t" l="l"/>
              <a:pathLst>
                <a:path h="1891516" w="4385106">
                  <a:moveTo>
                    <a:pt x="14182" y="0"/>
                  </a:moveTo>
                  <a:lnTo>
                    <a:pt x="4370924" y="0"/>
                  </a:lnTo>
                  <a:cubicBezTo>
                    <a:pt x="4378757" y="0"/>
                    <a:pt x="4385106" y="6349"/>
                    <a:pt x="4385106" y="14182"/>
                  </a:cubicBezTo>
                  <a:lnTo>
                    <a:pt x="4385106" y="1877334"/>
                  </a:lnTo>
                  <a:cubicBezTo>
                    <a:pt x="4385106" y="1881095"/>
                    <a:pt x="4383612" y="1884703"/>
                    <a:pt x="4380953" y="1887362"/>
                  </a:cubicBezTo>
                  <a:cubicBezTo>
                    <a:pt x="4378293" y="1890022"/>
                    <a:pt x="4374686" y="1891516"/>
                    <a:pt x="4370924" y="1891516"/>
                  </a:cubicBezTo>
                  <a:lnTo>
                    <a:pt x="14182" y="1891516"/>
                  </a:lnTo>
                  <a:cubicBezTo>
                    <a:pt x="10421" y="1891516"/>
                    <a:pt x="6813" y="1890022"/>
                    <a:pt x="4154" y="1887362"/>
                  </a:cubicBezTo>
                  <a:cubicBezTo>
                    <a:pt x="1494" y="1884703"/>
                    <a:pt x="0" y="1881095"/>
                    <a:pt x="0" y="1877334"/>
                  </a:cubicBezTo>
                  <a:lnTo>
                    <a:pt x="0" y="14182"/>
                  </a:lnTo>
                  <a:cubicBezTo>
                    <a:pt x="0" y="10421"/>
                    <a:pt x="1494" y="6813"/>
                    <a:pt x="4154" y="4154"/>
                  </a:cubicBezTo>
                  <a:cubicBezTo>
                    <a:pt x="6813" y="1494"/>
                    <a:pt x="10421" y="0"/>
                    <a:pt x="14182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85106" cy="1939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947298" y="2310646"/>
          <a:ext cx="7543800" cy="5000625"/>
        </p:xfrm>
        <a:graphic>
          <a:graphicData uri="http://schemas.openxmlformats.org/presentationml/2006/ole">
            <p:oleObj imgW="9042400" imgH="65024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2454771" y="542925"/>
            <a:ext cx="1368325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9"/>
              </a:lnSpc>
            </a:pPr>
            <a:r>
              <a:rPr lang="en-US" b="true" sz="6399" spc="-204">
                <a:solidFill>
                  <a:srgbClr val="02020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Preparación según el tipo de mode</a:t>
            </a:r>
            <a:r>
              <a:rPr lang="en-US" b="true" sz="6399" spc="-204">
                <a:solidFill>
                  <a:srgbClr val="02020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1975" y="1723110"/>
            <a:ext cx="17468850" cy="7535190"/>
            <a:chOff x="0" y="0"/>
            <a:chExt cx="4385106" cy="18915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5106" cy="1891516"/>
            </a:xfrm>
            <a:custGeom>
              <a:avLst/>
              <a:gdLst/>
              <a:ahLst/>
              <a:cxnLst/>
              <a:rect r="r" b="b" t="t" l="l"/>
              <a:pathLst>
                <a:path h="1891516" w="4385106">
                  <a:moveTo>
                    <a:pt x="14182" y="0"/>
                  </a:moveTo>
                  <a:lnTo>
                    <a:pt x="4370924" y="0"/>
                  </a:lnTo>
                  <a:cubicBezTo>
                    <a:pt x="4378757" y="0"/>
                    <a:pt x="4385106" y="6349"/>
                    <a:pt x="4385106" y="14182"/>
                  </a:cubicBezTo>
                  <a:lnTo>
                    <a:pt x="4385106" y="1877334"/>
                  </a:lnTo>
                  <a:cubicBezTo>
                    <a:pt x="4385106" y="1881095"/>
                    <a:pt x="4383612" y="1884703"/>
                    <a:pt x="4380953" y="1887362"/>
                  </a:cubicBezTo>
                  <a:cubicBezTo>
                    <a:pt x="4378293" y="1890022"/>
                    <a:pt x="4374686" y="1891516"/>
                    <a:pt x="4370924" y="1891516"/>
                  </a:cubicBezTo>
                  <a:lnTo>
                    <a:pt x="14182" y="1891516"/>
                  </a:lnTo>
                  <a:cubicBezTo>
                    <a:pt x="10421" y="1891516"/>
                    <a:pt x="6813" y="1890022"/>
                    <a:pt x="4154" y="1887362"/>
                  </a:cubicBezTo>
                  <a:cubicBezTo>
                    <a:pt x="1494" y="1884703"/>
                    <a:pt x="0" y="1881095"/>
                    <a:pt x="0" y="1877334"/>
                  </a:cubicBezTo>
                  <a:lnTo>
                    <a:pt x="0" y="14182"/>
                  </a:lnTo>
                  <a:cubicBezTo>
                    <a:pt x="0" y="10421"/>
                    <a:pt x="1494" y="6813"/>
                    <a:pt x="4154" y="4154"/>
                  </a:cubicBezTo>
                  <a:cubicBezTo>
                    <a:pt x="6813" y="1494"/>
                    <a:pt x="10421" y="0"/>
                    <a:pt x="14182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85106" cy="1939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544" y="2399090"/>
            <a:ext cx="12344891" cy="5488820"/>
          </a:xfrm>
          <a:custGeom>
            <a:avLst/>
            <a:gdLst/>
            <a:ahLst/>
            <a:cxnLst/>
            <a:rect r="r" b="b" t="t" l="l"/>
            <a:pathLst>
              <a:path h="5488820" w="12344891">
                <a:moveTo>
                  <a:pt x="0" y="0"/>
                </a:moveTo>
                <a:lnTo>
                  <a:pt x="12344891" y="0"/>
                </a:lnTo>
                <a:lnTo>
                  <a:pt x="12344891" y="5488820"/>
                </a:lnTo>
                <a:lnTo>
                  <a:pt x="0" y="5488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80597" y="542925"/>
            <a:ext cx="821580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9"/>
              </a:lnSpc>
            </a:pPr>
            <a:r>
              <a:rPr lang="en-US" b="true" sz="6399" spc="-204">
                <a:solidFill>
                  <a:srgbClr val="02020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Modelo de Regresión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72470" y="3493272"/>
            <a:ext cx="3516171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31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l menor error fue de 11,15 puntos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19774" y="5912222"/>
            <a:ext cx="4021564" cy="1393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¿Qué Significa esto?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600" y="2438199"/>
            <a:ext cx="17221200" cy="7239201"/>
            <a:chOff x="0" y="0"/>
            <a:chExt cx="4535625" cy="19066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5625" cy="1906621"/>
            </a:xfrm>
            <a:custGeom>
              <a:avLst/>
              <a:gdLst/>
              <a:ahLst/>
              <a:cxnLst/>
              <a:rect r="r" b="b" t="t" l="l"/>
              <a:pathLst>
                <a:path h="1906621" w="4535625">
                  <a:moveTo>
                    <a:pt x="14386" y="0"/>
                  </a:moveTo>
                  <a:lnTo>
                    <a:pt x="4521239" y="0"/>
                  </a:lnTo>
                  <a:cubicBezTo>
                    <a:pt x="4525054" y="0"/>
                    <a:pt x="4528713" y="1516"/>
                    <a:pt x="4531411" y="4214"/>
                  </a:cubicBezTo>
                  <a:cubicBezTo>
                    <a:pt x="4534109" y="6911"/>
                    <a:pt x="4535625" y="10570"/>
                    <a:pt x="4535625" y="14386"/>
                  </a:cubicBezTo>
                  <a:lnTo>
                    <a:pt x="4535625" y="1892235"/>
                  </a:lnTo>
                  <a:cubicBezTo>
                    <a:pt x="4535625" y="1896050"/>
                    <a:pt x="4534109" y="1899709"/>
                    <a:pt x="4531411" y="1902407"/>
                  </a:cubicBezTo>
                  <a:cubicBezTo>
                    <a:pt x="4528713" y="1905105"/>
                    <a:pt x="4525054" y="1906621"/>
                    <a:pt x="4521239" y="1906621"/>
                  </a:cubicBezTo>
                  <a:lnTo>
                    <a:pt x="14386" y="1906621"/>
                  </a:lnTo>
                  <a:cubicBezTo>
                    <a:pt x="10570" y="1906621"/>
                    <a:pt x="6911" y="1905105"/>
                    <a:pt x="4214" y="1902407"/>
                  </a:cubicBezTo>
                  <a:cubicBezTo>
                    <a:pt x="1516" y="1899709"/>
                    <a:pt x="0" y="1896050"/>
                    <a:pt x="0" y="1892235"/>
                  </a:cubicBezTo>
                  <a:lnTo>
                    <a:pt x="0" y="14386"/>
                  </a:lnTo>
                  <a:cubicBezTo>
                    <a:pt x="0" y="10570"/>
                    <a:pt x="1516" y="6911"/>
                    <a:pt x="4214" y="4214"/>
                  </a:cubicBezTo>
                  <a:cubicBezTo>
                    <a:pt x="6911" y="1516"/>
                    <a:pt x="10570" y="0"/>
                    <a:pt x="14386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35625" cy="1954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08988" y="3188102"/>
            <a:ext cx="8301069" cy="4999243"/>
          </a:xfrm>
          <a:custGeom>
            <a:avLst/>
            <a:gdLst/>
            <a:ahLst/>
            <a:cxnLst/>
            <a:rect r="r" b="b" t="t" l="l"/>
            <a:pathLst>
              <a:path h="4999243" w="8301069">
                <a:moveTo>
                  <a:pt x="0" y="0"/>
                </a:moveTo>
                <a:lnTo>
                  <a:pt x="8301069" y="0"/>
                </a:lnTo>
                <a:lnTo>
                  <a:pt x="8301069" y="4999243"/>
                </a:lnTo>
                <a:lnTo>
                  <a:pt x="0" y="49992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236825" y="3600450"/>
            <a:ext cx="1109240" cy="110924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393243" y="2589606"/>
            <a:ext cx="6493115" cy="5932485"/>
          </a:xfrm>
          <a:custGeom>
            <a:avLst/>
            <a:gdLst/>
            <a:ahLst/>
            <a:cxnLst/>
            <a:rect r="r" b="b" t="t" l="l"/>
            <a:pathLst>
              <a:path h="5932485" w="6493115">
                <a:moveTo>
                  <a:pt x="0" y="0"/>
                </a:moveTo>
                <a:lnTo>
                  <a:pt x="6493114" y="0"/>
                </a:lnTo>
                <a:lnTo>
                  <a:pt x="6493114" y="5932485"/>
                </a:lnTo>
                <a:lnTo>
                  <a:pt x="0" y="59324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36379" y="542925"/>
            <a:ext cx="1402080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9"/>
              </a:lnSpc>
            </a:pPr>
            <a:r>
              <a:rPr lang="en-US" b="true" sz="6399" spc="-204">
                <a:solidFill>
                  <a:srgbClr val="02020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Modelo de Clasificación (Experimento)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99180" y="1749224"/>
            <a:ext cx="6221754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¿Por qué hicimos esto?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93263" y="8779266"/>
            <a:ext cx="4033588" cy="1221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  <a:spcBef>
                <a:spcPct val="0"/>
              </a:spcBef>
            </a:pPr>
            <a:r>
              <a:rPr lang="en-US" b="true" sz="3556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¿Como lo interpretamos?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600" y="2495550"/>
            <a:ext cx="17068800" cy="5619268"/>
            <a:chOff x="0" y="0"/>
            <a:chExt cx="4495486" cy="14799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5486" cy="1479972"/>
            </a:xfrm>
            <a:custGeom>
              <a:avLst/>
              <a:gdLst/>
              <a:ahLst/>
              <a:cxnLst/>
              <a:rect r="r" b="b" t="t" l="l"/>
              <a:pathLst>
                <a:path h="1479972" w="4495486">
                  <a:moveTo>
                    <a:pt x="14514" y="0"/>
                  </a:moveTo>
                  <a:lnTo>
                    <a:pt x="4480972" y="0"/>
                  </a:lnTo>
                  <a:cubicBezTo>
                    <a:pt x="4484822" y="0"/>
                    <a:pt x="4488513" y="1529"/>
                    <a:pt x="4491235" y="4251"/>
                  </a:cubicBezTo>
                  <a:cubicBezTo>
                    <a:pt x="4493957" y="6973"/>
                    <a:pt x="4495486" y="10665"/>
                    <a:pt x="4495486" y="14514"/>
                  </a:cubicBezTo>
                  <a:lnTo>
                    <a:pt x="4495486" y="1465457"/>
                  </a:lnTo>
                  <a:cubicBezTo>
                    <a:pt x="4495486" y="1473474"/>
                    <a:pt x="4488988" y="1479972"/>
                    <a:pt x="4480972" y="1479972"/>
                  </a:cubicBezTo>
                  <a:lnTo>
                    <a:pt x="14514" y="1479972"/>
                  </a:lnTo>
                  <a:cubicBezTo>
                    <a:pt x="10665" y="1479972"/>
                    <a:pt x="6973" y="1478443"/>
                    <a:pt x="4251" y="1475721"/>
                  </a:cubicBezTo>
                  <a:cubicBezTo>
                    <a:pt x="1529" y="1472999"/>
                    <a:pt x="0" y="1469307"/>
                    <a:pt x="0" y="1465457"/>
                  </a:cubicBezTo>
                  <a:lnTo>
                    <a:pt x="0" y="14514"/>
                  </a:lnTo>
                  <a:cubicBezTo>
                    <a:pt x="0" y="10665"/>
                    <a:pt x="1529" y="6973"/>
                    <a:pt x="4251" y="4251"/>
                  </a:cubicBezTo>
                  <a:cubicBezTo>
                    <a:pt x="6973" y="1529"/>
                    <a:pt x="10665" y="0"/>
                    <a:pt x="14514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495486" cy="15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80597" y="2986437"/>
            <a:ext cx="15827565" cy="4280081"/>
          </a:xfrm>
          <a:custGeom>
            <a:avLst/>
            <a:gdLst/>
            <a:ahLst/>
            <a:cxnLst/>
            <a:rect r="r" b="b" t="t" l="l"/>
            <a:pathLst>
              <a:path h="4280081" w="15827565">
                <a:moveTo>
                  <a:pt x="0" y="0"/>
                </a:moveTo>
                <a:lnTo>
                  <a:pt x="15827565" y="0"/>
                </a:lnTo>
                <a:lnTo>
                  <a:pt x="15827565" y="4280081"/>
                </a:lnTo>
                <a:lnTo>
                  <a:pt x="0" y="4280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80597" y="542925"/>
            <a:ext cx="9330228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9"/>
              </a:lnSpc>
            </a:pPr>
            <a:r>
              <a:rPr lang="en-US" b="true" sz="6399" spc="-204">
                <a:solidFill>
                  <a:srgbClr val="02020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Modelo de Clasificación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98189" y="8029093"/>
            <a:ext cx="5592381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¿Qué Significa esto?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76460" y="3052762"/>
            <a:ext cx="1624012" cy="691515"/>
            <a:chOff x="0" y="0"/>
            <a:chExt cx="2165350" cy="9220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7943" y="49732"/>
              <a:ext cx="2069465" cy="821488"/>
            </a:xfrm>
            <a:custGeom>
              <a:avLst/>
              <a:gdLst/>
              <a:ahLst/>
              <a:cxnLst/>
              <a:rect r="r" b="b" t="t" l="l"/>
              <a:pathLst>
                <a:path h="821488" w="2069465">
                  <a:moveTo>
                    <a:pt x="1689417" y="792278"/>
                  </a:moveTo>
                  <a:cubicBezTo>
                    <a:pt x="358457" y="818948"/>
                    <a:pt x="343217" y="816408"/>
                    <a:pt x="311467" y="808788"/>
                  </a:cubicBezTo>
                  <a:cubicBezTo>
                    <a:pt x="279717" y="801168"/>
                    <a:pt x="247967" y="789738"/>
                    <a:pt x="218757" y="774498"/>
                  </a:cubicBezTo>
                  <a:cubicBezTo>
                    <a:pt x="190817" y="759258"/>
                    <a:pt x="162877" y="740208"/>
                    <a:pt x="137477" y="718618"/>
                  </a:cubicBezTo>
                  <a:cubicBezTo>
                    <a:pt x="113347" y="695758"/>
                    <a:pt x="91757" y="670358"/>
                    <a:pt x="72707" y="643688"/>
                  </a:cubicBezTo>
                  <a:cubicBezTo>
                    <a:pt x="53657" y="617018"/>
                    <a:pt x="38417" y="587808"/>
                    <a:pt x="26987" y="556058"/>
                  </a:cubicBezTo>
                  <a:cubicBezTo>
                    <a:pt x="15557" y="525578"/>
                    <a:pt x="6667" y="493828"/>
                    <a:pt x="2857" y="460808"/>
                  </a:cubicBezTo>
                  <a:cubicBezTo>
                    <a:pt x="-953" y="427788"/>
                    <a:pt x="-953" y="394768"/>
                    <a:pt x="2857" y="361748"/>
                  </a:cubicBezTo>
                  <a:cubicBezTo>
                    <a:pt x="6667" y="329998"/>
                    <a:pt x="15557" y="296978"/>
                    <a:pt x="26987" y="266498"/>
                  </a:cubicBezTo>
                  <a:cubicBezTo>
                    <a:pt x="38417" y="236018"/>
                    <a:pt x="53657" y="205538"/>
                    <a:pt x="72707" y="178868"/>
                  </a:cubicBezTo>
                  <a:cubicBezTo>
                    <a:pt x="91757" y="152198"/>
                    <a:pt x="113347" y="126798"/>
                    <a:pt x="137477" y="105208"/>
                  </a:cubicBezTo>
                  <a:cubicBezTo>
                    <a:pt x="162877" y="83618"/>
                    <a:pt x="190817" y="63298"/>
                    <a:pt x="218757" y="48058"/>
                  </a:cubicBezTo>
                  <a:cubicBezTo>
                    <a:pt x="247967" y="34088"/>
                    <a:pt x="275907" y="21388"/>
                    <a:pt x="311467" y="13768"/>
                  </a:cubicBezTo>
                  <a:cubicBezTo>
                    <a:pt x="359727" y="3608"/>
                    <a:pt x="432117" y="-1472"/>
                    <a:pt x="485457" y="1068"/>
                  </a:cubicBezTo>
                  <a:cubicBezTo>
                    <a:pt x="532447" y="3608"/>
                    <a:pt x="574357" y="8688"/>
                    <a:pt x="616267" y="22658"/>
                  </a:cubicBezTo>
                  <a:cubicBezTo>
                    <a:pt x="656907" y="36628"/>
                    <a:pt x="698817" y="58218"/>
                    <a:pt x="733107" y="84888"/>
                  </a:cubicBezTo>
                  <a:cubicBezTo>
                    <a:pt x="767397" y="111558"/>
                    <a:pt x="800417" y="145848"/>
                    <a:pt x="824547" y="181408"/>
                  </a:cubicBezTo>
                  <a:cubicBezTo>
                    <a:pt x="848677" y="216968"/>
                    <a:pt x="868997" y="260148"/>
                    <a:pt x="880427" y="302058"/>
                  </a:cubicBezTo>
                  <a:cubicBezTo>
                    <a:pt x="891857" y="343968"/>
                    <a:pt x="896937" y="389688"/>
                    <a:pt x="894397" y="434138"/>
                  </a:cubicBezTo>
                  <a:cubicBezTo>
                    <a:pt x="891857" y="477318"/>
                    <a:pt x="881697" y="523038"/>
                    <a:pt x="866457" y="563678"/>
                  </a:cubicBezTo>
                  <a:cubicBezTo>
                    <a:pt x="849947" y="603048"/>
                    <a:pt x="825817" y="643688"/>
                    <a:pt x="797877" y="676708"/>
                  </a:cubicBezTo>
                  <a:cubicBezTo>
                    <a:pt x="769937" y="709728"/>
                    <a:pt x="734377" y="740208"/>
                    <a:pt x="696277" y="763068"/>
                  </a:cubicBezTo>
                  <a:cubicBezTo>
                    <a:pt x="659447" y="784658"/>
                    <a:pt x="616267" y="802438"/>
                    <a:pt x="573087" y="811328"/>
                  </a:cubicBezTo>
                  <a:cubicBezTo>
                    <a:pt x="531177" y="821488"/>
                    <a:pt x="484187" y="824028"/>
                    <a:pt x="441007" y="818948"/>
                  </a:cubicBezTo>
                  <a:cubicBezTo>
                    <a:pt x="397827" y="813868"/>
                    <a:pt x="352107" y="801168"/>
                    <a:pt x="312737" y="783388"/>
                  </a:cubicBezTo>
                  <a:cubicBezTo>
                    <a:pt x="273367" y="765608"/>
                    <a:pt x="235267" y="738938"/>
                    <a:pt x="203517" y="708458"/>
                  </a:cubicBezTo>
                  <a:cubicBezTo>
                    <a:pt x="171767" y="679248"/>
                    <a:pt x="143827" y="642418"/>
                    <a:pt x="123507" y="603048"/>
                  </a:cubicBezTo>
                  <a:cubicBezTo>
                    <a:pt x="103187" y="564948"/>
                    <a:pt x="87947" y="520498"/>
                    <a:pt x="80327" y="477318"/>
                  </a:cubicBezTo>
                  <a:cubicBezTo>
                    <a:pt x="73977" y="434138"/>
                    <a:pt x="73977" y="388418"/>
                    <a:pt x="80327" y="345238"/>
                  </a:cubicBezTo>
                  <a:cubicBezTo>
                    <a:pt x="87947" y="302058"/>
                    <a:pt x="103187" y="257608"/>
                    <a:pt x="123507" y="219508"/>
                  </a:cubicBezTo>
                  <a:cubicBezTo>
                    <a:pt x="143827" y="181408"/>
                    <a:pt x="171767" y="143308"/>
                    <a:pt x="203517" y="114098"/>
                  </a:cubicBezTo>
                  <a:cubicBezTo>
                    <a:pt x="235267" y="83618"/>
                    <a:pt x="273367" y="58218"/>
                    <a:pt x="312737" y="39168"/>
                  </a:cubicBezTo>
                  <a:cubicBezTo>
                    <a:pt x="353377" y="21388"/>
                    <a:pt x="397827" y="8688"/>
                    <a:pt x="441007" y="3608"/>
                  </a:cubicBezTo>
                  <a:cubicBezTo>
                    <a:pt x="484187" y="-202"/>
                    <a:pt x="531177" y="2338"/>
                    <a:pt x="573087" y="11228"/>
                  </a:cubicBezTo>
                  <a:cubicBezTo>
                    <a:pt x="616267" y="20118"/>
                    <a:pt x="659447" y="37898"/>
                    <a:pt x="696277" y="60758"/>
                  </a:cubicBezTo>
                  <a:cubicBezTo>
                    <a:pt x="734377" y="82348"/>
                    <a:pt x="769937" y="112828"/>
                    <a:pt x="797877" y="145848"/>
                  </a:cubicBezTo>
                  <a:cubicBezTo>
                    <a:pt x="825817" y="178868"/>
                    <a:pt x="849947" y="219508"/>
                    <a:pt x="866457" y="260148"/>
                  </a:cubicBezTo>
                  <a:cubicBezTo>
                    <a:pt x="881697" y="300788"/>
                    <a:pt x="891857" y="345238"/>
                    <a:pt x="894397" y="389688"/>
                  </a:cubicBezTo>
                  <a:cubicBezTo>
                    <a:pt x="896937" y="432868"/>
                    <a:pt x="891857" y="478588"/>
                    <a:pt x="880427" y="521768"/>
                  </a:cubicBezTo>
                  <a:cubicBezTo>
                    <a:pt x="868997" y="563678"/>
                    <a:pt x="848677" y="605588"/>
                    <a:pt x="824547" y="641148"/>
                  </a:cubicBezTo>
                  <a:cubicBezTo>
                    <a:pt x="800417" y="677978"/>
                    <a:pt x="767397" y="710998"/>
                    <a:pt x="733107" y="737668"/>
                  </a:cubicBezTo>
                  <a:cubicBezTo>
                    <a:pt x="698817" y="764338"/>
                    <a:pt x="661987" y="785928"/>
                    <a:pt x="616267" y="799898"/>
                  </a:cubicBezTo>
                  <a:cubicBezTo>
                    <a:pt x="557847" y="817678"/>
                    <a:pt x="466407" y="821488"/>
                    <a:pt x="409257" y="821488"/>
                  </a:cubicBezTo>
                  <a:cubicBezTo>
                    <a:pt x="371157" y="820218"/>
                    <a:pt x="343217" y="816408"/>
                    <a:pt x="311467" y="808788"/>
                  </a:cubicBezTo>
                  <a:cubicBezTo>
                    <a:pt x="279717" y="801168"/>
                    <a:pt x="247967" y="789738"/>
                    <a:pt x="218757" y="774498"/>
                  </a:cubicBezTo>
                  <a:cubicBezTo>
                    <a:pt x="190817" y="759258"/>
                    <a:pt x="162877" y="740208"/>
                    <a:pt x="137477" y="718618"/>
                  </a:cubicBezTo>
                  <a:cubicBezTo>
                    <a:pt x="113347" y="695758"/>
                    <a:pt x="91757" y="671628"/>
                    <a:pt x="72707" y="643688"/>
                  </a:cubicBezTo>
                  <a:cubicBezTo>
                    <a:pt x="53657" y="617018"/>
                    <a:pt x="38417" y="587808"/>
                    <a:pt x="26987" y="556058"/>
                  </a:cubicBezTo>
                  <a:cubicBezTo>
                    <a:pt x="15557" y="525578"/>
                    <a:pt x="6667" y="493828"/>
                    <a:pt x="2857" y="460808"/>
                  </a:cubicBezTo>
                  <a:cubicBezTo>
                    <a:pt x="-953" y="427788"/>
                    <a:pt x="-953" y="394768"/>
                    <a:pt x="2857" y="361748"/>
                  </a:cubicBezTo>
                  <a:cubicBezTo>
                    <a:pt x="6667" y="329998"/>
                    <a:pt x="15557" y="296978"/>
                    <a:pt x="26987" y="266498"/>
                  </a:cubicBezTo>
                  <a:cubicBezTo>
                    <a:pt x="38417" y="236018"/>
                    <a:pt x="53657" y="205538"/>
                    <a:pt x="72707" y="178868"/>
                  </a:cubicBezTo>
                  <a:cubicBezTo>
                    <a:pt x="91757" y="152198"/>
                    <a:pt x="113347" y="126798"/>
                    <a:pt x="137477" y="105208"/>
                  </a:cubicBezTo>
                  <a:cubicBezTo>
                    <a:pt x="162877" y="83618"/>
                    <a:pt x="190817" y="63298"/>
                    <a:pt x="218757" y="49328"/>
                  </a:cubicBezTo>
                  <a:cubicBezTo>
                    <a:pt x="247967" y="34088"/>
                    <a:pt x="279717" y="21388"/>
                    <a:pt x="311467" y="13768"/>
                  </a:cubicBezTo>
                  <a:cubicBezTo>
                    <a:pt x="343217" y="6148"/>
                    <a:pt x="358457" y="4878"/>
                    <a:pt x="409257" y="2338"/>
                  </a:cubicBezTo>
                  <a:cubicBezTo>
                    <a:pt x="594677" y="-7822"/>
                    <a:pt x="1509077" y="17578"/>
                    <a:pt x="1689417" y="31548"/>
                  </a:cubicBezTo>
                  <a:cubicBezTo>
                    <a:pt x="1736407" y="34088"/>
                    <a:pt x="1750377" y="35358"/>
                    <a:pt x="1779587" y="41708"/>
                  </a:cubicBezTo>
                  <a:cubicBezTo>
                    <a:pt x="1810067" y="49328"/>
                    <a:pt x="1839277" y="60758"/>
                    <a:pt x="1865947" y="74728"/>
                  </a:cubicBezTo>
                  <a:cubicBezTo>
                    <a:pt x="1892617" y="88698"/>
                    <a:pt x="1918017" y="106478"/>
                    <a:pt x="1940877" y="126798"/>
                  </a:cubicBezTo>
                  <a:cubicBezTo>
                    <a:pt x="1963737" y="147118"/>
                    <a:pt x="1985327" y="169978"/>
                    <a:pt x="2001837" y="195378"/>
                  </a:cubicBezTo>
                  <a:cubicBezTo>
                    <a:pt x="2019617" y="220778"/>
                    <a:pt x="2033587" y="248718"/>
                    <a:pt x="2045017" y="276658"/>
                  </a:cubicBezTo>
                  <a:cubicBezTo>
                    <a:pt x="2055177" y="304598"/>
                    <a:pt x="2062797" y="335078"/>
                    <a:pt x="2066607" y="365558"/>
                  </a:cubicBezTo>
                  <a:cubicBezTo>
                    <a:pt x="2070417" y="396038"/>
                    <a:pt x="2070417" y="427788"/>
                    <a:pt x="2066607" y="456998"/>
                  </a:cubicBezTo>
                  <a:cubicBezTo>
                    <a:pt x="2062797" y="487478"/>
                    <a:pt x="2055177" y="517958"/>
                    <a:pt x="2045017" y="545898"/>
                  </a:cubicBezTo>
                  <a:cubicBezTo>
                    <a:pt x="2033587" y="575108"/>
                    <a:pt x="2019617" y="603048"/>
                    <a:pt x="2001837" y="627178"/>
                  </a:cubicBezTo>
                  <a:cubicBezTo>
                    <a:pt x="1985327" y="652578"/>
                    <a:pt x="1963737" y="675438"/>
                    <a:pt x="1940877" y="695758"/>
                  </a:cubicBezTo>
                  <a:cubicBezTo>
                    <a:pt x="1918017" y="716078"/>
                    <a:pt x="1892617" y="733858"/>
                    <a:pt x="1865947" y="747828"/>
                  </a:cubicBezTo>
                  <a:cubicBezTo>
                    <a:pt x="1839277" y="761798"/>
                    <a:pt x="1808797" y="773228"/>
                    <a:pt x="1779587" y="780848"/>
                  </a:cubicBezTo>
                  <a:cubicBezTo>
                    <a:pt x="1750377" y="788468"/>
                    <a:pt x="1689417" y="792278"/>
                    <a:pt x="1689417" y="792278"/>
                  </a:cubicBezTo>
                </a:path>
              </a:pathLst>
            </a:custGeom>
            <a:solidFill>
              <a:srgbClr val="122C2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805988" y="3067050"/>
            <a:ext cx="633412" cy="633412"/>
            <a:chOff x="0" y="0"/>
            <a:chExt cx="844550" cy="8445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081" y="44636"/>
              <a:ext cx="732239" cy="748564"/>
            </a:xfrm>
            <a:custGeom>
              <a:avLst/>
              <a:gdLst/>
              <a:ahLst/>
              <a:cxnLst/>
              <a:rect r="r" b="b" t="t" l="l"/>
              <a:pathLst>
                <a:path h="748564" w="732239">
                  <a:moveTo>
                    <a:pt x="732239" y="262704"/>
                  </a:moveTo>
                  <a:cubicBezTo>
                    <a:pt x="732239" y="498924"/>
                    <a:pt x="705569" y="559884"/>
                    <a:pt x="668739" y="605604"/>
                  </a:cubicBezTo>
                  <a:cubicBezTo>
                    <a:pt x="633179" y="651324"/>
                    <a:pt x="581109" y="691964"/>
                    <a:pt x="527769" y="716094"/>
                  </a:cubicBezTo>
                  <a:cubicBezTo>
                    <a:pt x="474429" y="740224"/>
                    <a:pt x="409659" y="751654"/>
                    <a:pt x="351239" y="747844"/>
                  </a:cubicBezTo>
                  <a:cubicBezTo>
                    <a:pt x="294089" y="745304"/>
                    <a:pt x="230589" y="724984"/>
                    <a:pt x="179789" y="694504"/>
                  </a:cubicBezTo>
                  <a:cubicBezTo>
                    <a:pt x="130259" y="665294"/>
                    <a:pt x="83269" y="618304"/>
                    <a:pt x="54059" y="567504"/>
                  </a:cubicBezTo>
                  <a:cubicBezTo>
                    <a:pt x="23579" y="517974"/>
                    <a:pt x="3259" y="454474"/>
                    <a:pt x="719" y="397324"/>
                  </a:cubicBezTo>
                  <a:cubicBezTo>
                    <a:pt x="-3091" y="338904"/>
                    <a:pt x="8339" y="272864"/>
                    <a:pt x="32469" y="220794"/>
                  </a:cubicBezTo>
                  <a:cubicBezTo>
                    <a:pt x="56599" y="167454"/>
                    <a:pt x="97239" y="115384"/>
                    <a:pt x="142959" y="79824"/>
                  </a:cubicBezTo>
                  <a:cubicBezTo>
                    <a:pt x="188679" y="42994"/>
                    <a:pt x="249639" y="16324"/>
                    <a:pt x="306789" y="6164"/>
                  </a:cubicBezTo>
                  <a:cubicBezTo>
                    <a:pt x="363939" y="-5266"/>
                    <a:pt x="429979" y="-186"/>
                    <a:pt x="485859" y="16324"/>
                  </a:cubicBezTo>
                  <a:cubicBezTo>
                    <a:pt x="541739" y="34104"/>
                    <a:pt x="639529" y="109034"/>
                    <a:pt x="639529" y="109034"/>
                  </a:cubicBezTo>
                </a:path>
              </a:pathLst>
            </a:custGeom>
            <a:solidFill>
              <a:srgbClr val="122C2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770745" y="3059430"/>
            <a:ext cx="693420" cy="711518"/>
            <a:chOff x="0" y="0"/>
            <a:chExt cx="924560" cy="9486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9479" y="50153"/>
              <a:ext cx="824281" cy="848055"/>
            </a:xfrm>
            <a:custGeom>
              <a:avLst/>
              <a:gdLst/>
              <a:ahLst/>
              <a:cxnLst/>
              <a:rect r="r" b="b" t="t" l="l"/>
              <a:pathLst>
                <a:path h="848055" w="824281">
                  <a:moveTo>
                    <a:pt x="74981" y="245757"/>
                  </a:moveTo>
                  <a:cubicBezTo>
                    <a:pt x="167691" y="121297"/>
                    <a:pt x="196901" y="89547"/>
                    <a:pt x="229921" y="66687"/>
                  </a:cubicBezTo>
                  <a:cubicBezTo>
                    <a:pt x="264211" y="43827"/>
                    <a:pt x="302311" y="26047"/>
                    <a:pt x="341681" y="14617"/>
                  </a:cubicBezTo>
                  <a:cubicBezTo>
                    <a:pt x="379781" y="3187"/>
                    <a:pt x="422961" y="-1893"/>
                    <a:pt x="463601" y="647"/>
                  </a:cubicBezTo>
                  <a:cubicBezTo>
                    <a:pt x="502971" y="3187"/>
                    <a:pt x="544881" y="12077"/>
                    <a:pt x="582981" y="26047"/>
                  </a:cubicBezTo>
                  <a:cubicBezTo>
                    <a:pt x="619811" y="41287"/>
                    <a:pt x="657911" y="62877"/>
                    <a:pt x="688391" y="88277"/>
                  </a:cubicBezTo>
                  <a:cubicBezTo>
                    <a:pt x="718871" y="114947"/>
                    <a:pt x="746811" y="146697"/>
                    <a:pt x="768401" y="180987"/>
                  </a:cubicBezTo>
                  <a:cubicBezTo>
                    <a:pt x="788721" y="216547"/>
                    <a:pt x="805231" y="255917"/>
                    <a:pt x="814121" y="295287"/>
                  </a:cubicBezTo>
                  <a:cubicBezTo>
                    <a:pt x="823011" y="334657"/>
                    <a:pt x="825551" y="377837"/>
                    <a:pt x="821741" y="417207"/>
                  </a:cubicBezTo>
                  <a:cubicBezTo>
                    <a:pt x="817931" y="457847"/>
                    <a:pt x="806501" y="498487"/>
                    <a:pt x="789991" y="535317"/>
                  </a:cubicBezTo>
                  <a:cubicBezTo>
                    <a:pt x="773481" y="572147"/>
                    <a:pt x="749351" y="607707"/>
                    <a:pt x="721411" y="638187"/>
                  </a:cubicBezTo>
                  <a:cubicBezTo>
                    <a:pt x="693471" y="667397"/>
                    <a:pt x="660451" y="692797"/>
                    <a:pt x="624891" y="711847"/>
                  </a:cubicBezTo>
                  <a:cubicBezTo>
                    <a:pt x="589331" y="730897"/>
                    <a:pt x="548691" y="744867"/>
                    <a:pt x="508051" y="752487"/>
                  </a:cubicBezTo>
                  <a:cubicBezTo>
                    <a:pt x="468681" y="758837"/>
                    <a:pt x="425501" y="758837"/>
                    <a:pt x="386131" y="752487"/>
                  </a:cubicBezTo>
                  <a:cubicBezTo>
                    <a:pt x="346761" y="747407"/>
                    <a:pt x="304851" y="733437"/>
                    <a:pt x="269291" y="714387"/>
                  </a:cubicBezTo>
                  <a:cubicBezTo>
                    <a:pt x="233731" y="696607"/>
                    <a:pt x="199441" y="669937"/>
                    <a:pt x="171501" y="640727"/>
                  </a:cubicBezTo>
                  <a:cubicBezTo>
                    <a:pt x="143561" y="611517"/>
                    <a:pt x="119431" y="577227"/>
                    <a:pt x="101651" y="540397"/>
                  </a:cubicBezTo>
                  <a:cubicBezTo>
                    <a:pt x="85141" y="503567"/>
                    <a:pt x="73711" y="462927"/>
                    <a:pt x="68631" y="422287"/>
                  </a:cubicBezTo>
                  <a:cubicBezTo>
                    <a:pt x="63551" y="381647"/>
                    <a:pt x="66091" y="339737"/>
                    <a:pt x="74981" y="300367"/>
                  </a:cubicBezTo>
                  <a:cubicBezTo>
                    <a:pt x="82601" y="260997"/>
                    <a:pt x="99111" y="220357"/>
                    <a:pt x="119431" y="186067"/>
                  </a:cubicBezTo>
                  <a:cubicBezTo>
                    <a:pt x="139751" y="150507"/>
                    <a:pt x="167691" y="118757"/>
                    <a:pt x="198171" y="92087"/>
                  </a:cubicBezTo>
                  <a:cubicBezTo>
                    <a:pt x="228651" y="65417"/>
                    <a:pt x="265481" y="42557"/>
                    <a:pt x="302311" y="28587"/>
                  </a:cubicBezTo>
                  <a:cubicBezTo>
                    <a:pt x="340411" y="13347"/>
                    <a:pt x="382321" y="3187"/>
                    <a:pt x="421691" y="647"/>
                  </a:cubicBezTo>
                  <a:cubicBezTo>
                    <a:pt x="462331" y="-1893"/>
                    <a:pt x="505511" y="3187"/>
                    <a:pt x="543611" y="13347"/>
                  </a:cubicBezTo>
                  <a:cubicBezTo>
                    <a:pt x="582981" y="23507"/>
                    <a:pt x="622351" y="41287"/>
                    <a:pt x="655371" y="64147"/>
                  </a:cubicBezTo>
                  <a:cubicBezTo>
                    <a:pt x="689661" y="87007"/>
                    <a:pt x="720141" y="116217"/>
                    <a:pt x="745541" y="147967"/>
                  </a:cubicBezTo>
                  <a:cubicBezTo>
                    <a:pt x="769671" y="179717"/>
                    <a:pt x="789991" y="217817"/>
                    <a:pt x="802691" y="255917"/>
                  </a:cubicBezTo>
                  <a:cubicBezTo>
                    <a:pt x="816661" y="294017"/>
                    <a:pt x="823011" y="335927"/>
                    <a:pt x="824281" y="376567"/>
                  </a:cubicBezTo>
                  <a:cubicBezTo>
                    <a:pt x="824281" y="417207"/>
                    <a:pt x="816661" y="459117"/>
                    <a:pt x="805231" y="497217"/>
                  </a:cubicBezTo>
                  <a:cubicBezTo>
                    <a:pt x="792531" y="535317"/>
                    <a:pt x="773481" y="568337"/>
                    <a:pt x="748081" y="606437"/>
                  </a:cubicBezTo>
                  <a:cubicBezTo>
                    <a:pt x="715061" y="655967"/>
                    <a:pt x="654101" y="727087"/>
                    <a:pt x="613461" y="762647"/>
                  </a:cubicBezTo>
                  <a:cubicBezTo>
                    <a:pt x="586791" y="785507"/>
                    <a:pt x="563931" y="798207"/>
                    <a:pt x="537261" y="810907"/>
                  </a:cubicBezTo>
                  <a:cubicBezTo>
                    <a:pt x="510591" y="823607"/>
                    <a:pt x="480111" y="833767"/>
                    <a:pt x="450901" y="840117"/>
                  </a:cubicBezTo>
                  <a:cubicBezTo>
                    <a:pt x="421691" y="846467"/>
                    <a:pt x="391211" y="849007"/>
                    <a:pt x="360731" y="847737"/>
                  </a:cubicBezTo>
                  <a:cubicBezTo>
                    <a:pt x="330251" y="846467"/>
                    <a:pt x="299771" y="841387"/>
                    <a:pt x="271831" y="832497"/>
                  </a:cubicBezTo>
                  <a:cubicBezTo>
                    <a:pt x="242621" y="824877"/>
                    <a:pt x="213411" y="812177"/>
                    <a:pt x="188011" y="796937"/>
                  </a:cubicBezTo>
                  <a:cubicBezTo>
                    <a:pt x="161341" y="782967"/>
                    <a:pt x="137211" y="763917"/>
                    <a:pt x="115621" y="742327"/>
                  </a:cubicBezTo>
                  <a:cubicBezTo>
                    <a:pt x="94031" y="722007"/>
                    <a:pt x="73711" y="697877"/>
                    <a:pt x="58471" y="672477"/>
                  </a:cubicBezTo>
                  <a:cubicBezTo>
                    <a:pt x="41961" y="647077"/>
                    <a:pt x="27991" y="619137"/>
                    <a:pt x="19101" y="591197"/>
                  </a:cubicBezTo>
                  <a:cubicBezTo>
                    <a:pt x="8941" y="561987"/>
                    <a:pt x="2591" y="531507"/>
                    <a:pt x="1321" y="502297"/>
                  </a:cubicBezTo>
                  <a:cubicBezTo>
                    <a:pt x="-1219" y="471817"/>
                    <a:pt x="51" y="441337"/>
                    <a:pt x="3861" y="412127"/>
                  </a:cubicBezTo>
                  <a:cubicBezTo>
                    <a:pt x="8941" y="381647"/>
                    <a:pt x="17831" y="352437"/>
                    <a:pt x="29261" y="324497"/>
                  </a:cubicBezTo>
                  <a:cubicBezTo>
                    <a:pt x="40691" y="296557"/>
                    <a:pt x="74981" y="245757"/>
                    <a:pt x="74981" y="245757"/>
                  </a:cubicBezTo>
                </a:path>
              </a:pathLst>
            </a:custGeom>
            <a:solidFill>
              <a:srgbClr val="122C2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900660" y="2997517"/>
            <a:ext cx="1835467" cy="705802"/>
            <a:chOff x="0" y="0"/>
            <a:chExt cx="2447290" cy="9410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159" y="47267"/>
              <a:ext cx="2346331" cy="843638"/>
            </a:xfrm>
            <a:custGeom>
              <a:avLst/>
              <a:gdLst/>
              <a:ahLst/>
              <a:cxnLst/>
              <a:rect r="r" b="b" t="t" l="l"/>
              <a:pathLst>
                <a:path h="843638" w="2346331">
                  <a:moveTo>
                    <a:pt x="1928501" y="843003"/>
                  </a:moveTo>
                  <a:cubicBezTo>
                    <a:pt x="1256671" y="826493"/>
                    <a:pt x="1124591" y="792203"/>
                    <a:pt x="987431" y="792203"/>
                  </a:cubicBezTo>
                  <a:cubicBezTo>
                    <a:pt x="854081" y="790933"/>
                    <a:pt x="700411" y="823953"/>
                    <a:pt x="593731" y="830303"/>
                  </a:cubicBezTo>
                  <a:cubicBezTo>
                    <a:pt x="522611" y="834113"/>
                    <a:pt x="469271" y="836653"/>
                    <a:pt x="414661" y="832843"/>
                  </a:cubicBezTo>
                  <a:cubicBezTo>
                    <a:pt x="367671" y="829033"/>
                    <a:pt x="324491" y="825223"/>
                    <a:pt x="282581" y="811253"/>
                  </a:cubicBezTo>
                  <a:cubicBezTo>
                    <a:pt x="240671" y="797283"/>
                    <a:pt x="198761" y="775693"/>
                    <a:pt x="163201" y="747753"/>
                  </a:cubicBezTo>
                  <a:cubicBezTo>
                    <a:pt x="128911" y="721083"/>
                    <a:pt x="95891" y="688063"/>
                    <a:pt x="71761" y="651233"/>
                  </a:cubicBezTo>
                  <a:cubicBezTo>
                    <a:pt x="46361" y="614403"/>
                    <a:pt x="27311" y="571223"/>
                    <a:pt x="14611" y="529313"/>
                  </a:cubicBezTo>
                  <a:cubicBezTo>
                    <a:pt x="3181" y="486133"/>
                    <a:pt x="-1899" y="439143"/>
                    <a:pt x="641" y="395963"/>
                  </a:cubicBezTo>
                  <a:cubicBezTo>
                    <a:pt x="3181" y="351513"/>
                    <a:pt x="13341" y="305793"/>
                    <a:pt x="29851" y="263883"/>
                  </a:cubicBezTo>
                  <a:cubicBezTo>
                    <a:pt x="46361" y="223243"/>
                    <a:pt x="70491" y="182603"/>
                    <a:pt x="98431" y="149583"/>
                  </a:cubicBezTo>
                  <a:cubicBezTo>
                    <a:pt x="127641" y="115293"/>
                    <a:pt x="163201" y="84813"/>
                    <a:pt x="201301" y="61953"/>
                  </a:cubicBezTo>
                  <a:cubicBezTo>
                    <a:pt x="239401" y="40363"/>
                    <a:pt x="282581" y="22583"/>
                    <a:pt x="325761" y="12423"/>
                  </a:cubicBezTo>
                  <a:cubicBezTo>
                    <a:pt x="368941" y="3533"/>
                    <a:pt x="415931" y="993"/>
                    <a:pt x="459111" y="6073"/>
                  </a:cubicBezTo>
                  <a:cubicBezTo>
                    <a:pt x="503561" y="9883"/>
                    <a:pt x="549281" y="22583"/>
                    <a:pt x="588651" y="41633"/>
                  </a:cubicBezTo>
                  <a:cubicBezTo>
                    <a:pt x="629291" y="60683"/>
                    <a:pt x="668661" y="86083"/>
                    <a:pt x="700411" y="116563"/>
                  </a:cubicBezTo>
                  <a:cubicBezTo>
                    <a:pt x="732161" y="147043"/>
                    <a:pt x="760101" y="185143"/>
                    <a:pt x="781691" y="223243"/>
                  </a:cubicBezTo>
                  <a:cubicBezTo>
                    <a:pt x="802011" y="262613"/>
                    <a:pt x="817251" y="307063"/>
                    <a:pt x="824871" y="351513"/>
                  </a:cubicBezTo>
                  <a:cubicBezTo>
                    <a:pt x="831221" y="394693"/>
                    <a:pt x="831221" y="441683"/>
                    <a:pt x="823601" y="484863"/>
                  </a:cubicBezTo>
                  <a:cubicBezTo>
                    <a:pt x="817251" y="529313"/>
                    <a:pt x="802011" y="573763"/>
                    <a:pt x="781691" y="611863"/>
                  </a:cubicBezTo>
                  <a:cubicBezTo>
                    <a:pt x="760101" y="651233"/>
                    <a:pt x="732161" y="689333"/>
                    <a:pt x="700411" y="719813"/>
                  </a:cubicBezTo>
                  <a:cubicBezTo>
                    <a:pt x="667391" y="750293"/>
                    <a:pt x="629291" y="775693"/>
                    <a:pt x="588651" y="794743"/>
                  </a:cubicBezTo>
                  <a:cubicBezTo>
                    <a:pt x="549281" y="813793"/>
                    <a:pt x="503561" y="825223"/>
                    <a:pt x="459111" y="830303"/>
                  </a:cubicBezTo>
                  <a:cubicBezTo>
                    <a:pt x="415931" y="835383"/>
                    <a:pt x="368941" y="832843"/>
                    <a:pt x="325761" y="822683"/>
                  </a:cubicBezTo>
                  <a:cubicBezTo>
                    <a:pt x="282581" y="813793"/>
                    <a:pt x="238131" y="796013"/>
                    <a:pt x="201301" y="773153"/>
                  </a:cubicBezTo>
                  <a:cubicBezTo>
                    <a:pt x="163201" y="750293"/>
                    <a:pt x="127641" y="719813"/>
                    <a:pt x="98431" y="686793"/>
                  </a:cubicBezTo>
                  <a:cubicBezTo>
                    <a:pt x="70491" y="652503"/>
                    <a:pt x="45091" y="613133"/>
                    <a:pt x="29851" y="571223"/>
                  </a:cubicBezTo>
                  <a:cubicBezTo>
                    <a:pt x="13341" y="530583"/>
                    <a:pt x="3181" y="484863"/>
                    <a:pt x="641" y="440413"/>
                  </a:cubicBezTo>
                  <a:cubicBezTo>
                    <a:pt x="-1899" y="395963"/>
                    <a:pt x="3181" y="348973"/>
                    <a:pt x="14611" y="307063"/>
                  </a:cubicBezTo>
                  <a:cubicBezTo>
                    <a:pt x="27311" y="263883"/>
                    <a:pt x="46361" y="221973"/>
                    <a:pt x="71761" y="185143"/>
                  </a:cubicBezTo>
                  <a:cubicBezTo>
                    <a:pt x="95891" y="148313"/>
                    <a:pt x="128911" y="114023"/>
                    <a:pt x="164471" y="87353"/>
                  </a:cubicBezTo>
                  <a:cubicBezTo>
                    <a:pt x="198761" y="60683"/>
                    <a:pt x="240671" y="39093"/>
                    <a:pt x="282581" y="25123"/>
                  </a:cubicBezTo>
                  <a:cubicBezTo>
                    <a:pt x="324491" y="11153"/>
                    <a:pt x="353701" y="7343"/>
                    <a:pt x="414661" y="3533"/>
                  </a:cubicBezTo>
                  <a:cubicBezTo>
                    <a:pt x="553091" y="-6627"/>
                    <a:pt x="862971" y="7343"/>
                    <a:pt x="1097921" y="17503"/>
                  </a:cubicBezTo>
                  <a:cubicBezTo>
                    <a:pt x="1348111" y="28933"/>
                    <a:pt x="1691011" y="49253"/>
                    <a:pt x="1871351" y="70843"/>
                  </a:cubicBezTo>
                  <a:cubicBezTo>
                    <a:pt x="1967871" y="81003"/>
                    <a:pt x="2037721" y="88623"/>
                    <a:pt x="2093601" y="106403"/>
                  </a:cubicBezTo>
                  <a:cubicBezTo>
                    <a:pt x="2127891" y="117833"/>
                    <a:pt x="2149481" y="130533"/>
                    <a:pt x="2174881" y="147043"/>
                  </a:cubicBezTo>
                  <a:cubicBezTo>
                    <a:pt x="2200281" y="163553"/>
                    <a:pt x="2224411" y="183873"/>
                    <a:pt x="2244731" y="206733"/>
                  </a:cubicBezTo>
                  <a:cubicBezTo>
                    <a:pt x="2265051" y="228323"/>
                    <a:pt x="2284101" y="253723"/>
                    <a:pt x="2298071" y="280393"/>
                  </a:cubicBezTo>
                  <a:cubicBezTo>
                    <a:pt x="2313311" y="307063"/>
                    <a:pt x="2324741" y="336273"/>
                    <a:pt x="2332361" y="365483"/>
                  </a:cubicBezTo>
                  <a:cubicBezTo>
                    <a:pt x="2341251" y="394693"/>
                    <a:pt x="2345061" y="426443"/>
                    <a:pt x="2346331" y="456923"/>
                  </a:cubicBezTo>
                  <a:cubicBezTo>
                    <a:pt x="2346331" y="486133"/>
                    <a:pt x="2343791" y="517883"/>
                    <a:pt x="2336171" y="547093"/>
                  </a:cubicBezTo>
                  <a:cubicBezTo>
                    <a:pt x="2329821" y="577573"/>
                    <a:pt x="2319661" y="606783"/>
                    <a:pt x="2305691" y="633453"/>
                  </a:cubicBezTo>
                  <a:cubicBezTo>
                    <a:pt x="2292991" y="661393"/>
                    <a:pt x="2275211" y="686793"/>
                    <a:pt x="2256161" y="710923"/>
                  </a:cubicBezTo>
                  <a:cubicBezTo>
                    <a:pt x="2235841" y="733783"/>
                    <a:pt x="2212981" y="755373"/>
                    <a:pt x="2188851" y="773153"/>
                  </a:cubicBezTo>
                  <a:cubicBezTo>
                    <a:pt x="2163451" y="789663"/>
                    <a:pt x="2136781" y="804903"/>
                    <a:pt x="2107571" y="816333"/>
                  </a:cubicBezTo>
                  <a:cubicBezTo>
                    <a:pt x="2079631" y="827763"/>
                    <a:pt x="2049151" y="836653"/>
                    <a:pt x="2019941" y="840463"/>
                  </a:cubicBezTo>
                  <a:cubicBezTo>
                    <a:pt x="1989461" y="845543"/>
                    <a:pt x="1928501" y="843003"/>
                    <a:pt x="1928501" y="843003"/>
                  </a:cubicBezTo>
                </a:path>
              </a:pathLst>
            </a:custGeom>
            <a:solidFill>
              <a:srgbClr val="122C2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2913043" y="3048952"/>
            <a:ext cx="633412" cy="633412"/>
            <a:chOff x="0" y="0"/>
            <a:chExt cx="844550" cy="8445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453" y="45258"/>
              <a:ext cx="733137" cy="749161"/>
            </a:xfrm>
            <a:custGeom>
              <a:avLst/>
              <a:gdLst/>
              <a:ahLst/>
              <a:cxnLst/>
              <a:rect r="r" b="b" t="t" l="l"/>
              <a:pathLst>
                <a:path h="749161" w="733137">
                  <a:moveTo>
                    <a:pt x="733137" y="263352"/>
                  </a:moveTo>
                  <a:cubicBezTo>
                    <a:pt x="733137" y="499572"/>
                    <a:pt x="705197" y="560532"/>
                    <a:pt x="669637" y="606252"/>
                  </a:cubicBezTo>
                  <a:cubicBezTo>
                    <a:pt x="634077" y="651972"/>
                    <a:pt x="582007" y="692612"/>
                    <a:pt x="528667" y="716742"/>
                  </a:cubicBezTo>
                  <a:cubicBezTo>
                    <a:pt x="475327" y="739602"/>
                    <a:pt x="410557" y="752302"/>
                    <a:pt x="352137" y="748492"/>
                  </a:cubicBezTo>
                  <a:cubicBezTo>
                    <a:pt x="293717" y="744682"/>
                    <a:pt x="230217" y="725632"/>
                    <a:pt x="180687" y="695152"/>
                  </a:cubicBezTo>
                  <a:cubicBezTo>
                    <a:pt x="131157" y="664672"/>
                    <a:pt x="84167" y="617682"/>
                    <a:pt x="53687" y="568152"/>
                  </a:cubicBezTo>
                  <a:cubicBezTo>
                    <a:pt x="24477" y="518622"/>
                    <a:pt x="4157" y="455122"/>
                    <a:pt x="347" y="396702"/>
                  </a:cubicBezTo>
                  <a:cubicBezTo>
                    <a:pt x="-2193" y="339552"/>
                    <a:pt x="9237" y="273512"/>
                    <a:pt x="33367" y="221442"/>
                  </a:cubicBezTo>
                  <a:cubicBezTo>
                    <a:pt x="57497" y="168102"/>
                    <a:pt x="98137" y="116032"/>
                    <a:pt x="143857" y="79202"/>
                  </a:cubicBezTo>
                  <a:cubicBezTo>
                    <a:pt x="189577" y="43642"/>
                    <a:pt x="250537" y="16972"/>
                    <a:pt x="307687" y="5542"/>
                  </a:cubicBezTo>
                  <a:cubicBezTo>
                    <a:pt x="364837" y="-4618"/>
                    <a:pt x="430877" y="-808"/>
                    <a:pt x="486757" y="16972"/>
                  </a:cubicBezTo>
                  <a:cubicBezTo>
                    <a:pt x="541367" y="34752"/>
                    <a:pt x="640427" y="109682"/>
                    <a:pt x="640427" y="109682"/>
                  </a:cubicBezTo>
                </a:path>
              </a:pathLst>
            </a:custGeom>
            <a:solidFill>
              <a:srgbClr val="122C2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826365" y="3048952"/>
            <a:ext cx="633412" cy="633412"/>
            <a:chOff x="0" y="0"/>
            <a:chExt cx="844550" cy="8445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0453" y="45258"/>
              <a:ext cx="731909" cy="749161"/>
            </a:xfrm>
            <a:custGeom>
              <a:avLst/>
              <a:gdLst/>
              <a:ahLst/>
              <a:cxnLst/>
              <a:rect r="r" b="b" t="t" l="l"/>
              <a:pathLst>
                <a:path h="749161" w="731909">
                  <a:moveTo>
                    <a:pt x="731867" y="263352"/>
                  </a:moveTo>
                  <a:cubicBezTo>
                    <a:pt x="733137" y="499572"/>
                    <a:pt x="705197" y="560532"/>
                    <a:pt x="669637" y="606252"/>
                  </a:cubicBezTo>
                  <a:cubicBezTo>
                    <a:pt x="634077" y="651972"/>
                    <a:pt x="580737" y="692612"/>
                    <a:pt x="528667" y="716742"/>
                  </a:cubicBezTo>
                  <a:cubicBezTo>
                    <a:pt x="475327" y="739602"/>
                    <a:pt x="410557" y="752302"/>
                    <a:pt x="352137" y="748492"/>
                  </a:cubicBezTo>
                  <a:cubicBezTo>
                    <a:pt x="293717" y="744682"/>
                    <a:pt x="230217" y="725632"/>
                    <a:pt x="180687" y="695152"/>
                  </a:cubicBezTo>
                  <a:cubicBezTo>
                    <a:pt x="131157" y="664672"/>
                    <a:pt x="84167" y="617682"/>
                    <a:pt x="53687" y="568152"/>
                  </a:cubicBezTo>
                  <a:cubicBezTo>
                    <a:pt x="24477" y="518622"/>
                    <a:pt x="4157" y="455122"/>
                    <a:pt x="347" y="396702"/>
                  </a:cubicBezTo>
                  <a:cubicBezTo>
                    <a:pt x="-2193" y="339552"/>
                    <a:pt x="9237" y="273512"/>
                    <a:pt x="33367" y="221442"/>
                  </a:cubicBezTo>
                  <a:cubicBezTo>
                    <a:pt x="57497" y="168102"/>
                    <a:pt x="98137" y="116032"/>
                    <a:pt x="143857" y="79202"/>
                  </a:cubicBezTo>
                  <a:cubicBezTo>
                    <a:pt x="189577" y="43642"/>
                    <a:pt x="250537" y="16972"/>
                    <a:pt x="307687" y="5542"/>
                  </a:cubicBezTo>
                  <a:cubicBezTo>
                    <a:pt x="364837" y="-4618"/>
                    <a:pt x="430877" y="-808"/>
                    <a:pt x="486757" y="16972"/>
                  </a:cubicBezTo>
                  <a:cubicBezTo>
                    <a:pt x="541367" y="34752"/>
                    <a:pt x="639157" y="109682"/>
                    <a:pt x="639157" y="109682"/>
                  </a:cubicBezTo>
                </a:path>
              </a:pathLst>
            </a:custGeom>
            <a:solidFill>
              <a:srgbClr val="122C2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756832" y="2956560"/>
            <a:ext cx="674370" cy="674370"/>
            <a:chOff x="0" y="0"/>
            <a:chExt cx="899160" cy="899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9804" y="49884"/>
              <a:ext cx="799329" cy="799473"/>
            </a:xfrm>
            <a:custGeom>
              <a:avLst/>
              <a:gdLst/>
              <a:ahLst/>
              <a:cxnLst/>
              <a:rect r="r" b="b" t="t" l="l"/>
              <a:pathLst>
                <a:path h="799473" w="799329">
                  <a:moveTo>
                    <a:pt x="110216" y="158396"/>
                  </a:moveTo>
                  <a:cubicBezTo>
                    <a:pt x="293096" y="18696"/>
                    <a:pt x="331196" y="8536"/>
                    <a:pt x="370566" y="3456"/>
                  </a:cubicBezTo>
                  <a:cubicBezTo>
                    <a:pt x="411206" y="-1624"/>
                    <a:pt x="453116" y="-354"/>
                    <a:pt x="492486" y="7266"/>
                  </a:cubicBezTo>
                  <a:cubicBezTo>
                    <a:pt x="531856" y="14886"/>
                    <a:pt x="572496" y="28856"/>
                    <a:pt x="608056" y="49176"/>
                  </a:cubicBezTo>
                  <a:cubicBezTo>
                    <a:pt x="642346" y="68226"/>
                    <a:pt x="675366" y="96166"/>
                    <a:pt x="703306" y="125376"/>
                  </a:cubicBezTo>
                  <a:cubicBezTo>
                    <a:pt x="729976" y="155856"/>
                    <a:pt x="752836" y="191416"/>
                    <a:pt x="768076" y="228246"/>
                  </a:cubicBezTo>
                  <a:cubicBezTo>
                    <a:pt x="784586" y="265076"/>
                    <a:pt x="794746" y="306986"/>
                    <a:pt x="798556" y="346356"/>
                  </a:cubicBezTo>
                  <a:cubicBezTo>
                    <a:pt x="801096" y="386996"/>
                    <a:pt x="797286" y="430176"/>
                    <a:pt x="788396" y="468276"/>
                  </a:cubicBezTo>
                  <a:cubicBezTo>
                    <a:pt x="778236" y="507646"/>
                    <a:pt x="761726" y="547016"/>
                    <a:pt x="740136" y="581306"/>
                  </a:cubicBezTo>
                  <a:cubicBezTo>
                    <a:pt x="718546" y="614326"/>
                    <a:pt x="689336" y="646076"/>
                    <a:pt x="657586" y="671476"/>
                  </a:cubicBezTo>
                  <a:cubicBezTo>
                    <a:pt x="627106" y="696876"/>
                    <a:pt x="589006" y="718466"/>
                    <a:pt x="552176" y="731166"/>
                  </a:cubicBezTo>
                  <a:cubicBezTo>
                    <a:pt x="514076" y="745136"/>
                    <a:pt x="472166" y="754026"/>
                    <a:pt x="431526" y="755296"/>
                  </a:cubicBezTo>
                  <a:cubicBezTo>
                    <a:pt x="392156" y="755296"/>
                    <a:pt x="348976" y="750216"/>
                    <a:pt x="310876" y="738786"/>
                  </a:cubicBezTo>
                  <a:cubicBezTo>
                    <a:pt x="272776" y="726086"/>
                    <a:pt x="234676" y="707036"/>
                    <a:pt x="201656" y="684176"/>
                  </a:cubicBezTo>
                  <a:cubicBezTo>
                    <a:pt x="168636" y="660046"/>
                    <a:pt x="138156" y="630836"/>
                    <a:pt x="115296" y="597816"/>
                  </a:cubicBezTo>
                  <a:cubicBezTo>
                    <a:pt x="91166" y="564796"/>
                    <a:pt x="72116" y="526696"/>
                    <a:pt x="60686" y="488596"/>
                  </a:cubicBezTo>
                  <a:cubicBezTo>
                    <a:pt x="49256" y="449226"/>
                    <a:pt x="42906" y="407316"/>
                    <a:pt x="44176" y="366676"/>
                  </a:cubicBezTo>
                  <a:cubicBezTo>
                    <a:pt x="45446" y="327306"/>
                    <a:pt x="53066" y="285396"/>
                    <a:pt x="67036" y="247296"/>
                  </a:cubicBezTo>
                  <a:cubicBezTo>
                    <a:pt x="81006" y="209196"/>
                    <a:pt x="102596" y="172366"/>
                    <a:pt x="127996" y="140616"/>
                  </a:cubicBezTo>
                  <a:cubicBezTo>
                    <a:pt x="153396" y="110136"/>
                    <a:pt x="185146" y="80926"/>
                    <a:pt x="218166" y="59336"/>
                  </a:cubicBezTo>
                  <a:cubicBezTo>
                    <a:pt x="252456" y="37746"/>
                    <a:pt x="291826" y="21236"/>
                    <a:pt x="331196" y="11076"/>
                  </a:cubicBezTo>
                  <a:cubicBezTo>
                    <a:pt x="369296" y="916"/>
                    <a:pt x="412476" y="-1624"/>
                    <a:pt x="451846" y="916"/>
                  </a:cubicBezTo>
                  <a:cubicBezTo>
                    <a:pt x="492486" y="4726"/>
                    <a:pt x="534396" y="14886"/>
                    <a:pt x="571226" y="31396"/>
                  </a:cubicBezTo>
                  <a:cubicBezTo>
                    <a:pt x="608056" y="46636"/>
                    <a:pt x="643616" y="69496"/>
                    <a:pt x="674096" y="96166"/>
                  </a:cubicBezTo>
                  <a:cubicBezTo>
                    <a:pt x="703306" y="122836"/>
                    <a:pt x="729976" y="157126"/>
                    <a:pt x="750296" y="191416"/>
                  </a:cubicBezTo>
                  <a:cubicBezTo>
                    <a:pt x="770616" y="226976"/>
                    <a:pt x="784586" y="267616"/>
                    <a:pt x="792206" y="306986"/>
                  </a:cubicBezTo>
                  <a:cubicBezTo>
                    <a:pt x="799826" y="346356"/>
                    <a:pt x="801096" y="388266"/>
                    <a:pt x="796016" y="428906"/>
                  </a:cubicBezTo>
                  <a:cubicBezTo>
                    <a:pt x="789666" y="468276"/>
                    <a:pt x="778236" y="508916"/>
                    <a:pt x="759186" y="545746"/>
                  </a:cubicBezTo>
                  <a:cubicBezTo>
                    <a:pt x="741406" y="581306"/>
                    <a:pt x="717276" y="613056"/>
                    <a:pt x="688066" y="644806"/>
                  </a:cubicBezTo>
                  <a:cubicBezTo>
                    <a:pt x="656316" y="680366"/>
                    <a:pt x="606786" y="721006"/>
                    <a:pt x="569956" y="745136"/>
                  </a:cubicBezTo>
                  <a:cubicBezTo>
                    <a:pt x="540746" y="762916"/>
                    <a:pt x="515346" y="773076"/>
                    <a:pt x="487406" y="781966"/>
                  </a:cubicBezTo>
                  <a:cubicBezTo>
                    <a:pt x="458196" y="790856"/>
                    <a:pt x="427716" y="797206"/>
                    <a:pt x="398506" y="798476"/>
                  </a:cubicBezTo>
                  <a:cubicBezTo>
                    <a:pt x="368026" y="801016"/>
                    <a:pt x="337546" y="798476"/>
                    <a:pt x="308336" y="793396"/>
                  </a:cubicBezTo>
                  <a:cubicBezTo>
                    <a:pt x="277856" y="788316"/>
                    <a:pt x="248646" y="778156"/>
                    <a:pt x="220706" y="766726"/>
                  </a:cubicBezTo>
                  <a:cubicBezTo>
                    <a:pt x="194036" y="754026"/>
                    <a:pt x="167366" y="737516"/>
                    <a:pt x="143236" y="719736"/>
                  </a:cubicBezTo>
                  <a:cubicBezTo>
                    <a:pt x="120376" y="700686"/>
                    <a:pt x="98786" y="679096"/>
                    <a:pt x="79736" y="654966"/>
                  </a:cubicBezTo>
                  <a:cubicBezTo>
                    <a:pt x="60686" y="632106"/>
                    <a:pt x="45446" y="605436"/>
                    <a:pt x="32746" y="577496"/>
                  </a:cubicBezTo>
                  <a:cubicBezTo>
                    <a:pt x="20046" y="550826"/>
                    <a:pt x="11156" y="520346"/>
                    <a:pt x="6076" y="491136"/>
                  </a:cubicBezTo>
                  <a:cubicBezTo>
                    <a:pt x="996" y="461926"/>
                    <a:pt x="-1544" y="431446"/>
                    <a:pt x="996" y="400966"/>
                  </a:cubicBezTo>
                  <a:cubicBezTo>
                    <a:pt x="2266" y="371756"/>
                    <a:pt x="7346" y="340006"/>
                    <a:pt x="17506" y="312066"/>
                  </a:cubicBezTo>
                  <a:cubicBezTo>
                    <a:pt x="26396" y="282856"/>
                    <a:pt x="39096" y="254916"/>
                    <a:pt x="54336" y="229516"/>
                  </a:cubicBezTo>
                  <a:cubicBezTo>
                    <a:pt x="69576" y="204116"/>
                    <a:pt x="110216" y="158396"/>
                    <a:pt x="110216" y="158396"/>
                  </a:cubicBezTo>
                </a:path>
              </a:pathLst>
            </a:custGeom>
            <a:solidFill>
              <a:srgbClr val="122C2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5478125" y="3007042"/>
            <a:ext cx="1339215" cy="678180"/>
            <a:chOff x="0" y="0"/>
            <a:chExt cx="1785620" cy="9042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0482" y="48961"/>
              <a:ext cx="1684979" cy="816561"/>
            </a:xfrm>
            <a:custGeom>
              <a:avLst/>
              <a:gdLst/>
              <a:ahLst/>
              <a:cxnLst/>
              <a:rect r="r" b="b" t="t" l="l"/>
              <a:pathLst>
                <a:path h="816561" w="1684979">
                  <a:moveTo>
                    <a:pt x="349568" y="47559"/>
                  </a:moveTo>
                  <a:cubicBezTo>
                    <a:pt x="1036638" y="4379"/>
                    <a:pt x="1189038" y="-4511"/>
                    <a:pt x="1284288" y="1839"/>
                  </a:cubicBezTo>
                  <a:cubicBezTo>
                    <a:pt x="1337628" y="5649"/>
                    <a:pt x="1371918" y="9459"/>
                    <a:pt x="1411288" y="23429"/>
                  </a:cubicBezTo>
                  <a:cubicBezTo>
                    <a:pt x="1451928" y="37399"/>
                    <a:pt x="1492568" y="58989"/>
                    <a:pt x="1526858" y="84389"/>
                  </a:cubicBezTo>
                  <a:cubicBezTo>
                    <a:pt x="1559878" y="109789"/>
                    <a:pt x="1591628" y="142809"/>
                    <a:pt x="1615758" y="178369"/>
                  </a:cubicBezTo>
                  <a:cubicBezTo>
                    <a:pt x="1639888" y="213929"/>
                    <a:pt x="1658938" y="255839"/>
                    <a:pt x="1670368" y="296479"/>
                  </a:cubicBezTo>
                  <a:cubicBezTo>
                    <a:pt x="1681798" y="337119"/>
                    <a:pt x="1686878" y="382839"/>
                    <a:pt x="1684338" y="426019"/>
                  </a:cubicBezTo>
                  <a:cubicBezTo>
                    <a:pt x="1681798" y="467929"/>
                    <a:pt x="1671638" y="512379"/>
                    <a:pt x="1656398" y="551749"/>
                  </a:cubicBezTo>
                  <a:cubicBezTo>
                    <a:pt x="1641158" y="592389"/>
                    <a:pt x="1617028" y="630489"/>
                    <a:pt x="1589088" y="663509"/>
                  </a:cubicBezTo>
                  <a:cubicBezTo>
                    <a:pt x="1562418" y="696529"/>
                    <a:pt x="1526858" y="725739"/>
                    <a:pt x="1490028" y="747329"/>
                  </a:cubicBezTo>
                  <a:cubicBezTo>
                    <a:pt x="1454468" y="768919"/>
                    <a:pt x="1411288" y="786699"/>
                    <a:pt x="1369378" y="795589"/>
                  </a:cubicBezTo>
                  <a:cubicBezTo>
                    <a:pt x="1328738" y="804479"/>
                    <a:pt x="1283018" y="807019"/>
                    <a:pt x="1239838" y="803209"/>
                  </a:cubicBezTo>
                  <a:cubicBezTo>
                    <a:pt x="1197928" y="798129"/>
                    <a:pt x="1153478" y="785429"/>
                    <a:pt x="1115378" y="767649"/>
                  </a:cubicBezTo>
                  <a:cubicBezTo>
                    <a:pt x="1076008" y="749869"/>
                    <a:pt x="1039178" y="724469"/>
                    <a:pt x="1007428" y="695259"/>
                  </a:cubicBezTo>
                  <a:cubicBezTo>
                    <a:pt x="976948" y="666049"/>
                    <a:pt x="949008" y="629219"/>
                    <a:pt x="928688" y="591119"/>
                  </a:cubicBezTo>
                  <a:cubicBezTo>
                    <a:pt x="909638" y="554289"/>
                    <a:pt x="894398" y="511109"/>
                    <a:pt x="888048" y="467929"/>
                  </a:cubicBezTo>
                  <a:cubicBezTo>
                    <a:pt x="880428" y="426019"/>
                    <a:pt x="880428" y="380299"/>
                    <a:pt x="888048" y="338389"/>
                  </a:cubicBezTo>
                  <a:cubicBezTo>
                    <a:pt x="894398" y="296479"/>
                    <a:pt x="909638" y="253299"/>
                    <a:pt x="928688" y="215199"/>
                  </a:cubicBezTo>
                  <a:cubicBezTo>
                    <a:pt x="949008" y="178369"/>
                    <a:pt x="976948" y="141539"/>
                    <a:pt x="1007428" y="112329"/>
                  </a:cubicBezTo>
                  <a:cubicBezTo>
                    <a:pt x="1039178" y="83119"/>
                    <a:pt x="1076008" y="57719"/>
                    <a:pt x="1115378" y="39939"/>
                  </a:cubicBezTo>
                  <a:cubicBezTo>
                    <a:pt x="1153478" y="22159"/>
                    <a:pt x="1197928" y="9459"/>
                    <a:pt x="1239838" y="4379"/>
                  </a:cubicBezTo>
                  <a:cubicBezTo>
                    <a:pt x="1283018" y="569"/>
                    <a:pt x="1328738" y="3109"/>
                    <a:pt x="1369378" y="11999"/>
                  </a:cubicBezTo>
                  <a:cubicBezTo>
                    <a:pt x="1411288" y="20889"/>
                    <a:pt x="1454468" y="37399"/>
                    <a:pt x="1490028" y="60259"/>
                  </a:cubicBezTo>
                  <a:cubicBezTo>
                    <a:pt x="1526858" y="81849"/>
                    <a:pt x="1562418" y="111059"/>
                    <a:pt x="1589088" y="144079"/>
                  </a:cubicBezTo>
                  <a:cubicBezTo>
                    <a:pt x="1617028" y="177099"/>
                    <a:pt x="1641158" y="215199"/>
                    <a:pt x="1656398" y="255839"/>
                  </a:cubicBezTo>
                  <a:cubicBezTo>
                    <a:pt x="1671638" y="295209"/>
                    <a:pt x="1681798" y="339659"/>
                    <a:pt x="1684338" y="381569"/>
                  </a:cubicBezTo>
                  <a:cubicBezTo>
                    <a:pt x="1686878" y="424749"/>
                    <a:pt x="1681798" y="470469"/>
                    <a:pt x="1670368" y="511109"/>
                  </a:cubicBezTo>
                  <a:cubicBezTo>
                    <a:pt x="1658938" y="551749"/>
                    <a:pt x="1639888" y="593659"/>
                    <a:pt x="1615758" y="629219"/>
                  </a:cubicBezTo>
                  <a:cubicBezTo>
                    <a:pt x="1591628" y="664779"/>
                    <a:pt x="1559878" y="697799"/>
                    <a:pt x="1526858" y="723199"/>
                  </a:cubicBezTo>
                  <a:cubicBezTo>
                    <a:pt x="1492568" y="748599"/>
                    <a:pt x="1451928" y="770189"/>
                    <a:pt x="1411288" y="784159"/>
                  </a:cubicBezTo>
                  <a:cubicBezTo>
                    <a:pt x="1370648" y="798129"/>
                    <a:pt x="1346518" y="799399"/>
                    <a:pt x="1284288" y="804479"/>
                  </a:cubicBezTo>
                  <a:cubicBezTo>
                    <a:pt x="1112838" y="818449"/>
                    <a:pt x="468948" y="823529"/>
                    <a:pt x="320358" y="801939"/>
                  </a:cubicBezTo>
                  <a:cubicBezTo>
                    <a:pt x="274638" y="795589"/>
                    <a:pt x="260668" y="789239"/>
                    <a:pt x="232728" y="776539"/>
                  </a:cubicBezTo>
                  <a:cubicBezTo>
                    <a:pt x="204788" y="765109"/>
                    <a:pt x="176848" y="749869"/>
                    <a:pt x="152718" y="732089"/>
                  </a:cubicBezTo>
                  <a:cubicBezTo>
                    <a:pt x="128588" y="713039"/>
                    <a:pt x="105728" y="691449"/>
                    <a:pt x="86678" y="668589"/>
                  </a:cubicBezTo>
                  <a:cubicBezTo>
                    <a:pt x="67628" y="644459"/>
                    <a:pt x="51118" y="617789"/>
                    <a:pt x="37148" y="591119"/>
                  </a:cubicBezTo>
                  <a:cubicBezTo>
                    <a:pt x="24448" y="563179"/>
                    <a:pt x="14288" y="533969"/>
                    <a:pt x="7938" y="503489"/>
                  </a:cubicBezTo>
                  <a:cubicBezTo>
                    <a:pt x="1588" y="474279"/>
                    <a:pt x="-952" y="442529"/>
                    <a:pt x="318" y="412049"/>
                  </a:cubicBezTo>
                  <a:cubicBezTo>
                    <a:pt x="1588" y="381569"/>
                    <a:pt x="6668" y="351089"/>
                    <a:pt x="15558" y="321879"/>
                  </a:cubicBezTo>
                  <a:cubicBezTo>
                    <a:pt x="23178" y="292669"/>
                    <a:pt x="35878" y="263459"/>
                    <a:pt x="51118" y="238059"/>
                  </a:cubicBezTo>
                  <a:cubicBezTo>
                    <a:pt x="66358" y="211389"/>
                    <a:pt x="85408" y="185989"/>
                    <a:pt x="105728" y="164399"/>
                  </a:cubicBezTo>
                  <a:cubicBezTo>
                    <a:pt x="127318" y="141539"/>
                    <a:pt x="151448" y="122489"/>
                    <a:pt x="176848" y="105979"/>
                  </a:cubicBezTo>
                  <a:cubicBezTo>
                    <a:pt x="202248" y="89469"/>
                    <a:pt x="230188" y="75499"/>
                    <a:pt x="259398" y="66609"/>
                  </a:cubicBezTo>
                  <a:cubicBezTo>
                    <a:pt x="288608" y="56449"/>
                    <a:pt x="349568" y="47559"/>
                    <a:pt x="349568" y="47559"/>
                  </a:cubicBezTo>
                </a:path>
              </a:pathLst>
            </a:custGeom>
            <a:solidFill>
              <a:srgbClr val="122C2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5343823" y="3014662"/>
            <a:ext cx="633412" cy="633412"/>
            <a:chOff x="0" y="0"/>
            <a:chExt cx="844550" cy="8445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50453" y="45258"/>
              <a:ext cx="731909" cy="748839"/>
            </a:xfrm>
            <a:custGeom>
              <a:avLst/>
              <a:gdLst/>
              <a:ahLst/>
              <a:cxnLst/>
              <a:rect r="r" b="b" t="t" l="l"/>
              <a:pathLst>
                <a:path h="748839" w="731909">
                  <a:moveTo>
                    <a:pt x="731867" y="262082"/>
                  </a:moveTo>
                  <a:cubicBezTo>
                    <a:pt x="733137" y="498302"/>
                    <a:pt x="705197" y="559262"/>
                    <a:pt x="669637" y="604982"/>
                  </a:cubicBezTo>
                  <a:cubicBezTo>
                    <a:pt x="634077" y="650702"/>
                    <a:pt x="582007" y="691342"/>
                    <a:pt x="528667" y="715472"/>
                  </a:cubicBezTo>
                  <a:cubicBezTo>
                    <a:pt x="475327" y="739602"/>
                    <a:pt x="410557" y="751032"/>
                    <a:pt x="352137" y="748492"/>
                  </a:cubicBezTo>
                  <a:cubicBezTo>
                    <a:pt x="293717" y="744682"/>
                    <a:pt x="230217" y="724362"/>
                    <a:pt x="180687" y="695152"/>
                  </a:cubicBezTo>
                  <a:cubicBezTo>
                    <a:pt x="131157" y="664672"/>
                    <a:pt x="84167" y="617682"/>
                    <a:pt x="53687" y="568152"/>
                  </a:cubicBezTo>
                  <a:cubicBezTo>
                    <a:pt x="24477" y="518622"/>
                    <a:pt x="4157" y="455122"/>
                    <a:pt x="347" y="396702"/>
                  </a:cubicBezTo>
                  <a:cubicBezTo>
                    <a:pt x="-2193" y="338282"/>
                    <a:pt x="9237" y="273512"/>
                    <a:pt x="33367" y="220172"/>
                  </a:cubicBezTo>
                  <a:cubicBezTo>
                    <a:pt x="57497" y="166832"/>
                    <a:pt x="98137" y="114762"/>
                    <a:pt x="143857" y="79202"/>
                  </a:cubicBezTo>
                  <a:cubicBezTo>
                    <a:pt x="189577" y="43642"/>
                    <a:pt x="250537" y="15702"/>
                    <a:pt x="307687" y="5542"/>
                  </a:cubicBezTo>
                  <a:cubicBezTo>
                    <a:pt x="364837" y="-4618"/>
                    <a:pt x="430877" y="-808"/>
                    <a:pt x="486757" y="16972"/>
                  </a:cubicBezTo>
                  <a:cubicBezTo>
                    <a:pt x="541367" y="33482"/>
                    <a:pt x="639157" y="109682"/>
                    <a:pt x="639157" y="109682"/>
                  </a:cubicBezTo>
                </a:path>
              </a:pathLst>
            </a:custGeom>
            <a:solidFill>
              <a:srgbClr val="122C25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600" y="2089901"/>
            <a:ext cx="17068800" cy="7398875"/>
            <a:chOff x="0" y="0"/>
            <a:chExt cx="4495486" cy="19486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5486" cy="1948675"/>
            </a:xfrm>
            <a:custGeom>
              <a:avLst/>
              <a:gdLst/>
              <a:ahLst/>
              <a:cxnLst/>
              <a:rect r="r" b="b" t="t" l="l"/>
              <a:pathLst>
                <a:path h="1948675" w="4495486">
                  <a:moveTo>
                    <a:pt x="14514" y="0"/>
                  </a:moveTo>
                  <a:lnTo>
                    <a:pt x="4480972" y="0"/>
                  </a:lnTo>
                  <a:cubicBezTo>
                    <a:pt x="4484822" y="0"/>
                    <a:pt x="4488513" y="1529"/>
                    <a:pt x="4491235" y="4251"/>
                  </a:cubicBezTo>
                  <a:cubicBezTo>
                    <a:pt x="4493957" y="6973"/>
                    <a:pt x="4495486" y="10665"/>
                    <a:pt x="4495486" y="14514"/>
                  </a:cubicBezTo>
                  <a:lnTo>
                    <a:pt x="4495486" y="1934161"/>
                  </a:lnTo>
                  <a:cubicBezTo>
                    <a:pt x="4495486" y="1942177"/>
                    <a:pt x="4488988" y="1948675"/>
                    <a:pt x="4480972" y="1948675"/>
                  </a:cubicBezTo>
                  <a:lnTo>
                    <a:pt x="14514" y="1948675"/>
                  </a:lnTo>
                  <a:cubicBezTo>
                    <a:pt x="10665" y="1948675"/>
                    <a:pt x="6973" y="1947146"/>
                    <a:pt x="4251" y="1944424"/>
                  </a:cubicBezTo>
                  <a:cubicBezTo>
                    <a:pt x="1529" y="1941702"/>
                    <a:pt x="0" y="1938010"/>
                    <a:pt x="0" y="1934161"/>
                  </a:cubicBezTo>
                  <a:lnTo>
                    <a:pt x="0" y="14514"/>
                  </a:lnTo>
                  <a:cubicBezTo>
                    <a:pt x="0" y="10665"/>
                    <a:pt x="1529" y="6973"/>
                    <a:pt x="4251" y="4251"/>
                  </a:cubicBezTo>
                  <a:cubicBezTo>
                    <a:pt x="6973" y="1529"/>
                    <a:pt x="10665" y="0"/>
                    <a:pt x="14514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495486" cy="199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28665" y="2601449"/>
            <a:ext cx="7439071" cy="6656851"/>
          </a:xfrm>
          <a:custGeom>
            <a:avLst/>
            <a:gdLst/>
            <a:ahLst/>
            <a:cxnLst/>
            <a:rect r="r" b="b" t="t" l="l"/>
            <a:pathLst>
              <a:path h="6656851" w="7439071">
                <a:moveTo>
                  <a:pt x="0" y="0"/>
                </a:moveTo>
                <a:lnTo>
                  <a:pt x="7439070" y="0"/>
                </a:lnTo>
                <a:lnTo>
                  <a:pt x="7439070" y="6656851"/>
                </a:lnTo>
                <a:lnTo>
                  <a:pt x="0" y="6656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80597" y="542925"/>
            <a:ext cx="9330228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9"/>
              </a:lnSpc>
            </a:pPr>
            <a:r>
              <a:rPr lang="en-US" b="true" sz="6399" spc="-204">
                <a:solidFill>
                  <a:srgbClr val="02020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Modelo de Clasificación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70062" y="1702551"/>
            <a:ext cx="11747876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¿Qué significa el resultado de Random Forest?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31176" y="2886436"/>
            <a:ext cx="4551624" cy="3061863"/>
            <a:chOff x="0" y="0"/>
            <a:chExt cx="1421397" cy="9561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1397" cy="956169"/>
            </a:xfrm>
            <a:custGeom>
              <a:avLst/>
              <a:gdLst/>
              <a:ahLst/>
              <a:cxnLst/>
              <a:rect r="r" b="b" t="t" l="l"/>
              <a:pathLst>
                <a:path h="956169" w="1421397">
                  <a:moveTo>
                    <a:pt x="54429" y="0"/>
                  </a:moveTo>
                  <a:lnTo>
                    <a:pt x="1366967" y="0"/>
                  </a:lnTo>
                  <a:cubicBezTo>
                    <a:pt x="1381403" y="0"/>
                    <a:pt x="1395247" y="5734"/>
                    <a:pt x="1405455" y="15942"/>
                  </a:cubicBezTo>
                  <a:cubicBezTo>
                    <a:pt x="1415662" y="26149"/>
                    <a:pt x="1421397" y="39994"/>
                    <a:pt x="1421397" y="54429"/>
                  </a:cubicBezTo>
                  <a:lnTo>
                    <a:pt x="1421397" y="901740"/>
                  </a:lnTo>
                  <a:cubicBezTo>
                    <a:pt x="1421397" y="916175"/>
                    <a:pt x="1415662" y="930019"/>
                    <a:pt x="1405455" y="940227"/>
                  </a:cubicBezTo>
                  <a:cubicBezTo>
                    <a:pt x="1395247" y="950434"/>
                    <a:pt x="1381403" y="956169"/>
                    <a:pt x="1366967" y="956169"/>
                  </a:cubicBezTo>
                  <a:lnTo>
                    <a:pt x="54429" y="956169"/>
                  </a:lnTo>
                  <a:cubicBezTo>
                    <a:pt x="39994" y="956169"/>
                    <a:pt x="26149" y="950434"/>
                    <a:pt x="15942" y="940227"/>
                  </a:cubicBezTo>
                  <a:cubicBezTo>
                    <a:pt x="5734" y="930019"/>
                    <a:pt x="0" y="916175"/>
                    <a:pt x="0" y="901740"/>
                  </a:cubicBezTo>
                  <a:lnTo>
                    <a:pt x="0" y="54429"/>
                  </a:lnTo>
                  <a:cubicBezTo>
                    <a:pt x="0" y="39994"/>
                    <a:pt x="5734" y="26149"/>
                    <a:pt x="15942" y="15942"/>
                  </a:cubicBezTo>
                  <a:cubicBezTo>
                    <a:pt x="26149" y="5734"/>
                    <a:pt x="39994" y="0"/>
                    <a:pt x="54429" y="0"/>
                  </a:cubicBezTo>
                  <a:close/>
                </a:path>
              </a:pathLst>
            </a:custGeom>
            <a:solidFill>
              <a:srgbClr val="FFF1F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21397" cy="1003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443703" y="4732855"/>
            <a:ext cx="4126570" cy="1056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50"/>
              </a:lnSpc>
              <a:spcBef>
                <a:spcPct val="0"/>
              </a:spcBef>
            </a:pPr>
            <a:r>
              <a:rPr lang="en-US" b="true" sz="3036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de las altas detectadas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35846" y="3606625"/>
            <a:ext cx="2672924" cy="810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12"/>
              </a:lnSpc>
              <a:spcBef>
                <a:spcPct val="0"/>
              </a:spcBef>
            </a:pPr>
            <a:r>
              <a:rPr lang="en-US" b="true" sz="4722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64,47 %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19170" y="6228440"/>
            <a:ext cx="5975637" cy="3029860"/>
            <a:chOff x="0" y="0"/>
            <a:chExt cx="1885803" cy="9561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85803" cy="956169"/>
            </a:xfrm>
            <a:custGeom>
              <a:avLst/>
              <a:gdLst/>
              <a:ahLst/>
              <a:cxnLst/>
              <a:rect r="r" b="b" t="t" l="l"/>
              <a:pathLst>
                <a:path h="956169" w="1885803">
                  <a:moveTo>
                    <a:pt x="41459" y="0"/>
                  </a:moveTo>
                  <a:lnTo>
                    <a:pt x="1844344" y="0"/>
                  </a:lnTo>
                  <a:cubicBezTo>
                    <a:pt x="1867241" y="0"/>
                    <a:pt x="1885803" y="18562"/>
                    <a:pt x="1885803" y="41459"/>
                  </a:cubicBezTo>
                  <a:lnTo>
                    <a:pt x="1885803" y="914710"/>
                  </a:lnTo>
                  <a:cubicBezTo>
                    <a:pt x="1885803" y="937607"/>
                    <a:pt x="1867241" y="956169"/>
                    <a:pt x="1844344" y="956169"/>
                  </a:cubicBezTo>
                  <a:lnTo>
                    <a:pt x="41459" y="956169"/>
                  </a:lnTo>
                  <a:cubicBezTo>
                    <a:pt x="18562" y="956169"/>
                    <a:pt x="0" y="937607"/>
                    <a:pt x="0" y="914710"/>
                  </a:cubicBezTo>
                  <a:lnTo>
                    <a:pt x="0" y="41459"/>
                  </a:lnTo>
                  <a:cubicBezTo>
                    <a:pt x="0" y="18562"/>
                    <a:pt x="18562" y="0"/>
                    <a:pt x="41459" y="0"/>
                  </a:cubicBezTo>
                  <a:close/>
                </a:path>
              </a:pathLst>
            </a:custGeom>
            <a:solidFill>
              <a:srgbClr val="FFF1F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885803" cy="1003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879099" y="7975555"/>
            <a:ext cx="525577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de las selecciones como altas son correct</a:t>
            </a:r>
            <a:r>
              <a:rPr lang="en-US" b="true" sz="3000" strike="noStrike" u="none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21997" y="6714822"/>
            <a:ext cx="2686773" cy="79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43"/>
              </a:lnSpc>
              <a:spcBef>
                <a:spcPct val="0"/>
              </a:spcBef>
            </a:pPr>
            <a:r>
              <a:rPr lang="en-US" b="true" sz="4673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62,99 %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1975" y="1723110"/>
            <a:ext cx="17468850" cy="7535190"/>
            <a:chOff x="0" y="0"/>
            <a:chExt cx="4385106" cy="18915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5106" cy="1891516"/>
            </a:xfrm>
            <a:custGeom>
              <a:avLst/>
              <a:gdLst/>
              <a:ahLst/>
              <a:cxnLst/>
              <a:rect r="r" b="b" t="t" l="l"/>
              <a:pathLst>
                <a:path h="1891516" w="4385106">
                  <a:moveTo>
                    <a:pt x="14182" y="0"/>
                  </a:moveTo>
                  <a:lnTo>
                    <a:pt x="4370924" y="0"/>
                  </a:lnTo>
                  <a:cubicBezTo>
                    <a:pt x="4378757" y="0"/>
                    <a:pt x="4385106" y="6349"/>
                    <a:pt x="4385106" y="14182"/>
                  </a:cubicBezTo>
                  <a:lnTo>
                    <a:pt x="4385106" y="1877334"/>
                  </a:lnTo>
                  <a:cubicBezTo>
                    <a:pt x="4385106" y="1881095"/>
                    <a:pt x="4383612" y="1884703"/>
                    <a:pt x="4380953" y="1887362"/>
                  </a:cubicBezTo>
                  <a:cubicBezTo>
                    <a:pt x="4378293" y="1890022"/>
                    <a:pt x="4374686" y="1891516"/>
                    <a:pt x="4370924" y="1891516"/>
                  </a:cubicBezTo>
                  <a:lnTo>
                    <a:pt x="14182" y="1891516"/>
                  </a:lnTo>
                  <a:cubicBezTo>
                    <a:pt x="10421" y="1891516"/>
                    <a:pt x="6813" y="1890022"/>
                    <a:pt x="4154" y="1887362"/>
                  </a:cubicBezTo>
                  <a:cubicBezTo>
                    <a:pt x="1494" y="1884703"/>
                    <a:pt x="0" y="1881095"/>
                    <a:pt x="0" y="1877334"/>
                  </a:cubicBezTo>
                  <a:lnTo>
                    <a:pt x="0" y="14182"/>
                  </a:lnTo>
                  <a:cubicBezTo>
                    <a:pt x="0" y="10421"/>
                    <a:pt x="1494" y="6813"/>
                    <a:pt x="4154" y="4154"/>
                  </a:cubicBezTo>
                  <a:cubicBezTo>
                    <a:pt x="6813" y="1494"/>
                    <a:pt x="10421" y="0"/>
                    <a:pt x="14182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85106" cy="1939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39088" y="3987672"/>
            <a:ext cx="7818225" cy="4693329"/>
          </a:xfrm>
          <a:custGeom>
            <a:avLst/>
            <a:gdLst/>
            <a:ahLst/>
            <a:cxnLst/>
            <a:rect r="r" b="b" t="t" l="l"/>
            <a:pathLst>
              <a:path h="4693329" w="7818225">
                <a:moveTo>
                  <a:pt x="0" y="0"/>
                </a:moveTo>
                <a:lnTo>
                  <a:pt x="7818224" y="0"/>
                </a:lnTo>
                <a:lnTo>
                  <a:pt x="7818224" y="4693329"/>
                </a:lnTo>
                <a:lnTo>
                  <a:pt x="0" y="4693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20765" y="3987672"/>
            <a:ext cx="8515041" cy="4693329"/>
          </a:xfrm>
          <a:custGeom>
            <a:avLst/>
            <a:gdLst/>
            <a:ahLst/>
            <a:cxnLst/>
            <a:rect r="r" b="b" t="t" l="l"/>
            <a:pathLst>
              <a:path h="4693329" w="8515041">
                <a:moveTo>
                  <a:pt x="0" y="0"/>
                </a:moveTo>
                <a:lnTo>
                  <a:pt x="8515041" y="0"/>
                </a:lnTo>
                <a:lnTo>
                  <a:pt x="8515041" y="4693329"/>
                </a:lnTo>
                <a:lnTo>
                  <a:pt x="0" y="46933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80597" y="542925"/>
            <a:ext cx="966360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9"/>
              </a:lnSpc>
            </a:pPr>
            <a:r>
              <a:rPr lang="en-US" b="true" sz="6399" spc="-204">
                <a:solidFill>
                  <a:srgbClr val="02020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Modelo de Segmentación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57643" y="1987256"/>
            <a:ext cx="4986157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20202"/>
                </a:solidFill>
                <a:latin typeface="Inter Medium"/>
                <a:ea typeface="Inter Medium"/>
                <a:cs typeface="Inter Medium"/>
                <a:sym typeface="Inter Medium"/>
              </a:rPr>
              <a:t>Determinación del k-optimo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72626" y="2745934"/>
            <a:ext cx="2420348" cy="194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0.16</a:t>
            </a:r>
          </a:p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885826" y="2745934"/>
            <a:ext cx="2420348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49243" y="1987256"/>
            <a:ext cx="4986157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20202"/>
                </a:solidFill>
                <a:latin typeface="Inter Medium"/>
                <a:ea typeface="Inter Medium"/>
                <a:cs typeface="Inter Medium"/>
                <a:sym typeface="Inter Medium"/>
              </a:rPr>
              <a:t>Silhouette Score Obtenido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9600" y="1463563"/>
            <a:ext cx="11373933" cy="8213837"/>
          </a:xfrm>
          <a:custGeom>
            <a:avLst/>
            <a:gdLst/>
            <a:ahLst/>
            <a:cxnLst/>
            <a:rect r="r" b="b" t="t" l="l"/>
            <a:pathLst>
              <a:path h="8213837" w="11373933">
                <a:moveTo>
                  <a:pt x="0" y="0"/>
                </a:moveTo>
                <a:lnTo>
                  <a:pt x="11373933" y="0"/>
                </a:lnTo>
                <a:lnTo>
                  <a:pt x="11373933" y="8213837"/>
                </a:lnTo>
                <a:lnTo>
                  <a:pt x="0" y="82138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7886" y="123825"/>
            <a:ext cx="9330228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9"/>
              </a:lnSpc>
            </a:pPr>
            <a:r>
              <a:rPr lang="en-US" b="true" sz="6399" spc="-204">
                <a:solidFill>
                  <a:srgbClr val="02020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Modelo de Segmentación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389168" y="4195479"/>
            <a:ext cx="5396865" cy="5062821"/>
            <a:chOff x="0" y="0"/>
            <a:chExt cx="1421397" cy="13334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21397" cy="1333418"/>
            </a:xfrm>
            <a:custGeom>
              <a:avLst/>
              <a:gdLst/>
              <a:ahLst/>
              <a:cxnLst/>
              <a:rect r="r" b="b" t="t" l="l"/>
              <a:pathLst>
                <a:path h="1333418" w="1421397">
                  <a:moveTo>
                    <a:pt x="45905" y="0"/>
                  </a:moveTo>
                  <a:lnTo>
                    <a:pt x="1375492" y="0"/>
                  </a:lnTo>
                  <a:cubicBezTo>
                    <a:pt x="1400844" y="0"/>
                    <a:pt x="1421397" y="20552"/>
                    <a:pt x="1421397" y="45905"/>
                  </a:cubicBezTo>
                  <a:lnTo>
                    <a:pt x="1421397" y="1287513"/>
                  </a:lnTo>
                  <a:cubicBezTo>
                    <a:pt x="1421397" y="1312866"/>
                    <a:pt x="1400844" y="1333418"/>
                    <a:pt x="1375492" y="1333418"/>
                  </a:cubicBezTo>
                  <a:lnTo>
                    <a:pt x="45905" y="1333418"/>
                  </a:lnTo>
                  <a:cubicBezTo>
                    <a:pt x="20552" y="1333418"/>
                    <a:pt x="0" y="1312866"/>
                    <a:pt x="0" y="1287513"/>
                  </a:cubicBezTo>
                  <a:lnTo>
                    <a:pt x="0" y="45905"/>
                  </a:lnTo>
                  <a:cubicBezTo>
                    <a:pt x="0" y="20552"/>
                    <a:pt x="20552" y="0"/>
                    <a:pt x="45905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21397" cy="1381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435068" y="4413171"/>
            <a:ext cx="5305063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Representa aproximadamente 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58151" y="6118911"/>
            <a:ext cx="277724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40,66%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35068" y="7424471"/>
            <a:ext cx="5305063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de la variabilidad total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014845" y="1740472"/>
            <a:ext cx="4145509" cy="853963"/>
            <a:chOff x="0" y="0"/>
            <a:chExt cx="1091821" cy="2249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1821" cy="224912"/>
            </a:xfrm>
            <a:custGeom>
              <a:avLst/>
              <a:gdLst/>
              <a:ahLst/>
              <a:cxnLst/>
              <a:rect r="r" b="b" t="t" l="l"/>
              <a:pathLst>
                <a:path h="224912" w="1091821">
                  <a:moveTo>
                    <a:pt x="59761" y="0"/>
                  </a:moveTo>
                  <a:lnTo>
                    <a:pt x="1032060" y="0"/>
                  </a:lnTo>
                  <a:cubicBezTo>
                    <a:pt x="1047910" y="0"/>
                    <a:pt x="1063110" y="6296"/>
                    <a:pt x="1074318" y="17504"/>
                  </a:cubicBezTo>
                  <a:cubicBezTo>
                    <a:pt x="1085525" y="28711"/>
                    <a:pt x="1091821" y="43912"/>
                    <a:pt x="1091821" y="59761"/>
                  </a:cubicBezTo>
                  <a:lnTo>
                    <a:pt x="1091821" y="165151"/>
                  </a:lnTo>
                  <a:cubicBezTo>
                    <a:pt x="1091821" y="198156"/>
                    <a:pt x="1065065" y="224912"/>
                    <a:pt x="1032060" y="224912"/>
                  </a:cubicBezTo>
                  <a:lnTo>
                    <a:pt x="59761" y="224912"/>
                  </a:lnTo>
                  <a:cubicBezTo>
                    <a:pt x="26756" y="224912"/>
                    <a:pt x="0" y="198156"/>
                    <a:pt x="0" y="165151"/>
                  </a:cubicBezTo>
                  <a:lnTo>
                    <a:pt x="0" y="59761"/>
                  </a:lnTo>
                  <a:cubicBezTo>
                    <a:pt x="0" y="26756"/>
                    <a:pt x="26756" y="0"/>
                    <a:pt x="59761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91821" cy="272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013399" y="1781747"/>
            <a:ext cx="171951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CP1: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909561" y="1843812"/>
            <a:ext cx="1757131" cy="58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49"/>
              </a:lnSpc>
              <a:spcBef>
                <a:spcPct val="0"/>
              </a:spcBef>
            </a:pPr>
            <a:r>
              <a:rPr lang="en-US" b="true" sz="3392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25,47%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016292" y="2912891"/>
            <a:ext cx="4145509" cy="853963"/>
            <a:chOff x="0" y="0"/>
            <a:chExt cx="1091821" cy="2249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1821" cy="224912"/>
            </a:xfrm>
            <a:custGeom>
              <a:avLst/>
              <a:gdLst/>
              <a:ahLst/>
              <a:cxnLst/>
              <a:rect r="r" b="b" t="t" l="l"/>
              <a:pathLst>
                <a:path h="224912" w="1091821">
                  <a:moveTo>
                    <a:pt x="59761" y="0"/>
                  </a:moveTo>
                  <a:lnTo>
                    <a:pt x="1032060" y="0"/>
                  </a:lnTo>
                  <a:cubicBezTo>
                    <a:pt x="1047910" y="0"/>
                    <a:pt x="1063110" y="6296"/>
                    <a:pt x="1074318" y="17504"/>
                  </a:cubicBezTo>
                  <a:cubicBezTo>
                    <a:pt x="1085525" y="28711"/>
                    <a:pt x="1091821" y="43912"/>
                    <a:pt x="1091821" y="59761"/>
                  </a:cubicBezTo>
                  <a:lnTo>
                    <a:pt x="1091821" y="165151"/>
                  </a:lnTo>
                  <a:cubicBezTo>
                    <a:pt x="1091821" y="198156"/>
                    <a:pt x="1065065" y="224912"/>
                    <a:pt x="1032060" y="224912"/>
                  </a:cubicBezTo>
                  <a:lnTo>
                    <a:pt x="59761" y="224912"/>
                  </a:lnTo>
                  <a:cubicBezTo>
                    <a:pt x="26756" y="224912"/>
                    <a:pt x="0" y="198156"/>
                    <a:pt x="0" y="165151"/>
                  </a:cubicBezTo>
                  <a:lnTo>
                    <a:pt x="0" y="59761"/>
                  </a:lnTo>
                  <a:cubicBezTo>
                    <a:pt x="0" y="26756"/>
                    <a:pt x="26756" y="0"/>
                    <a:pt x="59761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91821" cy="272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014845" y="2954166"/>
            <a:ext cx="171951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CP2: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911008" y="3016231"/>
            <a:ext cx="1757131" cy="58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49"/>
              </a:lnSpc>
              <a:spcBef>
                <a:spcPct val="0"/>
              </a:spcBef>
            </a:pPr>
            <a:r>
              <a:rPr lang="en-US" b="true" sz="3392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15,19%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84815" y="2244819"/>
            <a:ext cx="12518370" cy="5797361"/>
          </a:xfrm>
          <a:custGeom>
            <a:avLst/>
            <a:gdLst/>
            <a:ahLst/>
            <a:cxnLst/>
            <a:rect r="r" b="b" t="t" l="l"/>
            <a:pathLst>
              <a:path h="5797361" w="12518370">
                <a:moveTo>
                  <a:pt x="0" y="0"/>
                </a:moveTo>
                <a:lnTo>
                  <a:pt x="12518370" y="0"/>
                </a:lnTo>
                <a:lnTo>
                  <a:pt x="12518370" y="5797362"/>
                </a:lnTo>
                <a:lnTo>
                  <a:pt x="0" y="5797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78886" y="325900"/>
            <a:ext cx="9330228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9"/>
              </a:lnSpc>
            </a:pPr>
            <a:r>
              <a:rPr lang="en-US" b="true" sz="6399" spc="-204">
                <a:solidFill>
                  <a:srgbClr val="02020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Modelo de Segmentación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05200" y="9239619"/>
            <a:ext cx="1127760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¿Qué se puede interpretar por este mapa de calor?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600" y="2901146"/>
            <a:ext cx="17068800" cy="6357154"/>
            <a:chOff x="0" y="0"/>
            <a:chExt cx="4495486" cy="16743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5486" cy="1674312"/>
            </a:xfrm>
            <a:custGeom>
              <a:avLst/>
              <a:gdLst/>
              <a:ahLst/>
              <a:cxnLst/>
              <a:rect r="r" b="b" t="t" l="l"/>
              <a:pathLst>
                <a:path h="1674312" w="4495486">
                  <a:moveTo>
                    <a:pt x="14514" y="0"/>
                  </a:moveTo>
                  <a:lnTo>
                    <a:pt x="4480972" y="0"/>
                  </a:lnTo>
                  <a:cubicBezTo>
                    <a:pt x="4484822" y="0"/>
                    <a:pt x="4488513" y="1529"/>
                    <a:pt x="4491235" y="4251"/>
                  </a:cubicBezTo>
                  <a:cubicBezTo>
                    <a:pt x="4493957" y="6973"/>
                    <a:pt x="4495486" y="10665"/>
                    <a:pt x="4495486" y="14514"/>
                  </a:cubicBezTo>
                  <a:lnTo>
                    <a:pt x="4495486" y="1659798"/>
                  </a:lnTo>
                  <a:cubicBezTo>
                    <a:pt x="4495486" y="1663647"/>
                    <a:pt x="4493957" y="1667339"/>
                    <a:pt x="4491235" y="1670061"/>
                  </a:cubicBezTo>
                  <a:cubicBezTo>
                    <a:pt x="4488513" y="1672783"/>
                    <a:pt x="4484822" y="1674312"/>
                    <a:pt x="4480972" y="1674312"/>
                  </a:cubicBezTo>
                  <a:lnTo>
                    <a:pt x="14514" y="1674312"/>
                  </a:lnTo>
                  <a:cubicBezTo>
                    <a:pt x="10665" y="1674312"/>
                    <a:pt x="6973" y="1672783"/>
                    <a:pt x="4251" y="1670061"/>
                  </a:cubicBezTo>
                  <a:cubicBezTo>
                    <a:pt x="1529" y="1667339"/>
                    <a:pt x="0" y="1663647"/>
                    <a:pt x="0" y="1659798"/>
                  </a:cubicBezTo>
                  <a:lnTo>
                    <a:pt x="0" y="14514"/>
                  </a:lnTo>
                  <a:cubicBezTo>
                    <a:pt x="0" y="10665"/>
                    <a:pt x="1529" y="6973"/>
                    <a:pt x="4251" y="4251"/>
                  </a:cubicBezTo>
                  <a:cubicBezTo>
                    <a:pt x="6973" y="1529"/>
                    <a:pt x="10665" y="0"/>
                    <a:pt x="14514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495486" cy="1721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80597" y="3472329"/>
            <a:ext cx="16058639" cy="5236911"/>
          </a:xfrm>
          <a:custGeom>
            <a:avLst/>
            <a:gdLst/>
            <a:ahLst/>
            <a:cxnLst/>
            <a:rect r="r" b="b" t="t" l="l"/>
            <a:pathLst>
              <a:path h="5236911" w="16058639">
                <a:moveTo>
                  <a:pt x="0" y="0"/>
                </a:moveTo>
                <a:lnTo>
                  <a:pt x="16058638" y="0"/>
                </a:lnTo>
                <a:lnTo>
                  <a:pt x="16058638" y="5236911"/>
                </a:lnTo>
                <a:lnTo>
                  <a:pt x="0" y="52369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80597" y="542925"/>
            <a:ext cx="966360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9"/>
              </a:lnSpc>
            </a:pPr>
            <a:r>
              <a:rPr lang="en-US" b="true" sz="6399" spc="-204">
                <a:solidFill>
                  <a:srgbClr val="02020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Modelo de Segmentación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20251" y="2577614"/>
            <a:ext cx="964749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K-M</a:t>
            </a:r>
            <a:r>
              <a:rPr lang="en-US" b="true" sz="3399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eans descubre cuatro perfiles musicales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1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0597" y="542925"/>
            <a:ext cx="453396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9"/>
              </a:lnSpc>
            </a:pPr>
            <a:r>
              <a:rPr lang="en-US" b="true" sz="6399" spc="-204">
                <a:solidFill>
                  <a:srgbClr val="02020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En resumen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42250" y="2438199"/>
            <a:ext cx="5653750" cy="4873625"/>
            <a:chOff x="0" y="0"/>
            <a:chExt cx="1489054" cy="12835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89053" cy="1283589"/>
            </a:xfrm>
            <a:custGeom>
              <a:avLst/>
              <a:gdLst/>
              <a:ahLst/>
              <a:cxnLst/>
              <a:rect r="r" b="b" t="t" l="l"/>
              <a:pathLst>
                <a:path h="1283589" w="1489053">
                  <a:moveTo>
                    <a:pt x="43819" y="0"/>
                  </a:moveTo>
                  <a:lnTo>
                    <a:pt x="1445235" y="0"/>
                  </a:lnTo>
                  <a:cubicBezTo>
                    <a:pt x="1456856" y="0"/>
                    <a:pt x="1468002" y="4617"/>
                    <a:pt x="1476219" y="12834"/>
                  </a:cubicBezTo>
                  <a:cubicBezTo>
                    <a:pt x="1484437" y="21052"/>
                    <a:pt x="1489053" y="32197"/>
                    <a:pt x="1489053" y="43819"/>
                  </a:cubicBezTo>
                  <a:lnTo>
                    <a:pt x="1489053" y="1239770"/>
                  </a:lnTo>
                  <a:cubicBezTo>
                    <a:pt x="1489053" y="1251391"/>
                    <a:pt x="1484437" y="1262537"/>
                    <a:pt x="1476219" y="1270754"/>
                  </a:cubicBezTo>
                  <a:cubicBezTo>
                    <a:pt x="1468002" y="1278972"/>
                    <a:pt x="1456856" y="1283589"/>
                    <a:pt x="1445235" y="1283589"/>
                  </a:cubicBezTo>
                  <a:lnTo>
                    <a:pt x="43819" y="1283589"/>
                  </a:lnTo>
                  <a:cubicBezTo>
                    <a:pt x="32197" y="1283589"/>
                    <a:pt x="21052" y="1278972"/>
                    <a:pt x="12834" y="1270754"/>
                  </a:cubicBezTo>
                  <a:cubicBezTo>
                    <a:pt x="4617" y="1262537"/>
                    <a:pt x="0" y="1251391"/>
                    <a:pt x="0" y="1239770"/>
                  </a:cubicBezTo>
                  <a:lnTo>
                    <a:pt x="0" y="43819"/>
                  </a:lnTo>
                  <a:cubicBezTo>
                    <a:pt x="0" y="32197"/>
                    <a:pt x="4617" y="21052"/>
                    <a:pt x="12834" y="12834"/>
                  </a:cubicBezTo>
                  <a:cubicBezTo>
                    <a:pt x="21052" y="4617"/>
                    <a:pt x="32197" y="0"/>
                    <a:pt x="43819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89054" cy="1331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351487" y="2438199"/>
            <a:ext cx="5653750" cy="4873625"/>
            <a:chOff x="0" y="0"/>
            <a:chExt cx="1489054" cy="12835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9053" cy="1283589"/>
            </a:xfrm>
            <a:custGeom>
              <a:avLst/>
              <a:gdLst/>
              <a:ahLst/>
              <a:cxnLst/>
              <a:rect r="r" b="b" t="t" l="l"/>
              <a:pathLst>
                <a:path h="1283589" w="1489053">
                  <a:moveTo>
                    <a:pt x="43819" y="0"/>
                  </a:moveTo>
                  <a:lnTo>
                    <a:pt x="1445235" y="0"/>
                  </a:lnTo>
                  <a:cubicBezTo>
                    <a:pt x="1456856" y="0"/>
                    <a:pt x="1468002" y="4617"/>
                    <a:pt x="1476219" y="12834"/>
                  </a:cubicBezTo>
                  <a:cubicBezTo>
                    <a:pt x="1484437" y="21052"/>
                    <a:pt x="1489053" y="32197"/>
                    <a:pt x="1489053" y="43819"/>
                  </a:cubicBezTo>
                  <a:lnTo>
                    <a:pt x="1489053" y="1239770"/>
                  </a:lnTo>
                  <a:cubicBezTo>
                    <a:pt x="1489053" y="1251391"/>
                    <a:pt x="1484437" y="1262537"/>
                    <a:pt x="1476219" y="1270754"/>
                  </a:cubicBezTo>
                  <a:cubicBezTo>
                    <a:pt x="1468002" y="1278972"/>
                    <a:pt x="1456856" y="1283589"/>
                    <a:pt x="1445235" y="1283589"/>
                  </a:cubicBezTo>
                  <a:lnTo>
                    <a:pt x="43819" y="1283589"/>
                  </a:lnTo>
                  <a:cubicBezTo>
                    <a:pt x="32197" y="1283589"/>
                    <a:pt x="21052" y="1278972"/>
                    <a:pt x="12834" y="1270754"/>
                  </a:cubicBezTo>
                  <a:cubicBezTo>
                    <a:pt x="4617" y="1262537"/>
                    <a:pt x="0" y="1251391"/>
                    <a:pt x="0" y="1239770"/>
                  </a:cubicBezTo>
                  <a:lnTo>
                    <a:pt x="0" y="43819"/>
                  </a:lnTo>
                  <a:cubicBezTo>
                    <a:pt x="0" y="32197"/>
                    <a:pt x="4617" y="21052"/>
                    <a:pt x="12834" y="12834"/>
                  </a:cubicBezTo>
                  <a:cubicBezTo>
                    <a:pt x="21052" y="4617"/>
                    <a:pt x="32197" y="0"/>
                    <a:pt x="43819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489054" cy="1331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60725" y="2438199"/>
            <a:ext cx="5653750" cy="4873625"/>
            <a:chOff x="0" y="0"/>
            <a:chExt cx="1489054" cy="12835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89053" cy="1283589"/>
            </a:xfrm>
            <a:custGeom>
              <a:avLst/>
              <a:gdLst/>
              <a:ahLst/>
              <a:cxnLst/>
              <a:rect r="r" b="b" t="t" l="l"/>
              <a:pathLst>
                <a:path h="1283589" w="1489053">
                  <a:moveTo>
                    <a:pt x="43819" y="0"/>
                  </a:moveTo>
                  <a:lnTo>
                    <a:pt x="1445235" y="0"/>
                  </a:lnTo>
                  <a:cubicBezTo>
                    <a:pt x="1456856" y="0"/>
                    <a:pt x="1468002" y="4617"/>
                    <a:pt x="1476219" y="12834"/>
                  </a:cubicBezTo>
                  <a:cubicBezTo>
                    <a:pt x="1484437" y="21052"/>
                    <a:pt x="1489053" y="32197"/>
                    <a:pt x="1489053" y="43819"/>
                  </a:cubicBezTo>
                  <a:lnTo>
                    <a:pt x="1489053" y="1239770"/>
                  </a:lnTo>
                  <a:cubicBezTo>
                    <a:pt x="1489053" y="1251391"/>
                    <a:pt x="1484437" y="1262537"/>
                    <a:pt x="1476219" y="1270754"/>
                  </a:cubicBezTo>
                  <a:cubicBezTo>
                    <a:pt x="1468002" y="1278972"/>
                    <a:pt x="1456856" y="1283589"/>
                    <a:pt x="1445235" y="1283589"/>
                  </a:cubicBezTo>
                  <a:lnTo>
                    <a:pt x="43819" y="1283589"/>
                  </a:lnTo>
                  <a:cubicBezTo>
                    <a:pt x="32197" y="1283589"/>
                    <a:pt x="21052" y="1278972"/>
                    <a:pt x="12834" y="1270754"/>
                  </a:cubicBezTo>
                  <a:cubicBezTo>
                    <a:pt x="4617" y="1262537"/>
                    <a:pt x="0" y="1251391"/>
                    <a:pt x="0" y="1239770"/>
                  </a:cubicBezTo>
                  <a:lnTo>
                    <a:pt x="0" y="43819"/>
                  </a:lnTo>
                  <a:cubicBezTo>
                    <a:pt x="0" y="32197"/>
                    <a:pt x="4617" y="21052"/>
                    <a:pt x="12834" y="12834"/>
                  </a:cubicBezTo>
                  <a:cubicBezTo>
                    <a:pt x="21052" y="4617"/>
                    <a:pt x="32197" y="0"/>
                    <a:pt x="43819" y="0"/>
                  </a:cubicBezTo>
                  <a:close/>
                </a:path>
              </a:pathLst>
            </a:custGeom>
            <a:solidFill>
              <a:srgbClr val="FBFB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489054" cy="1331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009199" y="2734944"/>
            <a:ext cx="259224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Regresión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1868" y="2734944"/>
            <a:ext cx="325232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Clasificación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91034" y="2734944"/>
            <a:ext cx="357786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Segmentación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39129" y="4190365"/>
            <a:ext cx="3337807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64,47%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24231" y="5095875"/>
            <a:ext cx="3446701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20202"/>
                </a:solidFill>
                <a:latin typeface="Inter Medium"/>
                <a:ea typeface="Inter Medium"/>
                <a:cs typeface="Inter Medium"/>
                <a:sym typeface="Inter Medium"/>
              </a:rPr>
              <a:t>Recall de categoría Alta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6705" y="6010174"/>
            <a:ext cx="3982655" cy="824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Obtenido con </a:t>
            </a:r>
            <a:r>
              <a:rPr lang="en-US" b="true" sz="24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RandomForest optimizado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27497" y="4190365"/>
            <a:ext cx="3337807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11,15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38763" y="4190365"/>
            <a:ext cx="3337807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4 perfiles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71245" y="5095875"/>
            <a:ext cx="2268155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20202"/>
                </a:solidFill>
                <a:latin typeface="Inter Medium"/>
                <a:ea typeface="Inter Medium"/>
                <a:cs typeface="Inter Medium"/>
                <a:sym typeface="Inter Medium"/>
              </a:rPr>
              <a:t>MAE en puntos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54584" y="5095875"/>
            <a:ext cx="2706164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20202"/>
                </a:solidFill>
                <a:latin typeface="Inter Medium"/>
                <a:ea typeface="Inter Medium"/>
                <a:cs typeface="Inter Medium"/>
                <a:sym typeface="Inter Medium"/>
              </a:rPr>
              <a:t>Silhouette: 0,1596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13995" y="5800624"/>
            <a:ext cx="3982655" cy="1243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Obtenido con HistGr</a:t>
            </a:r>
            <a:r>
              <a:rPr lang="en-US" b="true" sz="24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adientBoosting optimizado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91034" y="6219724"/>
            <a:ext cx="3982655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Obtenido con K-means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2119739">
            <a:off x="14822001" y="-3627643"/>
            <a:ext cx="8061356" cy="8474487"/>
          </a:xfrm>
          <a:custGeom>
            <a:avLst/>
            <a:gdLst/>
            <a:ahLst/>
            <a:cxnLst/>
            <a:rect r="r" b="b" t="t" l="l"/>
            <a:pathLst>
              <a:path h="8474487" w="8061356">
                <a:moveTo>
                  <a:pt x="0" y="8474486"/>
                </a:moveTo>
                <a:lnTo>
                  <a:pt x="8061356" y="8474486"/>
                </a:lnTo>
                <a:lnTo>
                  <a:pt x="8061356" y="0"/>
                </a:lnTo>
                <a:lnTo>
                  <a:pt x="0" y="0"/>
                </a:lnTo>
                <a:lnTo>
                  <a:pt x="0" y="847448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56357" y="2652764"/>
            <a:ext cx="12375285" cy="536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636"/>
              </a:lnSpc>
            </a:pPr>
            <a:r>
              <a:rPr lang="en-US" b="true" sz="20636" spc="-660">
                <a:solidFill>
                  <a:srgbClr val="020202"/>
                </a:solidFill>
                <a:latin typeface="Inter Bold"/>
                <a:ea typeface="Inter Bold"/>
                <a:cs typeface="Inter Bold"/>
                <a:sym typeface="Inter Bold"/>
              </a:rPr>
              <a:t>Muchas 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DAHXwWboRLk</dc:identifier>
  <dcterms:modified xsi:type="dcterms:W3CDTF">2011-08-01T06:04:30Z</dcterms:modified>
  <cp:revision>1</cp:revision>
  <dc:title>Blue Orange Professional KPI Report Presentation</dc:title>
</cp:coreProperties>
</file>